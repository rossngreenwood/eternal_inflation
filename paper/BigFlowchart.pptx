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0574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5" autoAdjust="0"/>
    <p:restoredTop sz="94660"/>
  </p:normalViewPr>
  <p:slideViewPr>
    <p:cSldViewPr snapToGrid="0">
      <p:cViewPr>
        <p:scale>
          <a:sx n="40" d="100"/>
          <a:sy n="40" d="100"/>
        </p:scale>
        <p:origin x="1227" y="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3050" y="4489452"/>
            <a:ext cx="17487900" cy="9550400"/>
          </a:xfrm>
        </p:spPr>
        <p:txBody>
          <a:bodyPr anchor="b"/>
          <a:lstStyle>
            <a:lvl1pPr algn="ctr">
              <a:defRPr sz="13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1750" y="14408152"/>
            <a:ext cx="15430500" cy="6623048"/>
          </a:xfrm>
        </p:spPr>
        <p:txBody>
          <a:bodyPr/>
          <a:lstStyle>
            <a:lvl1pPr marL="0" indent="0" algn="ctr">
              <a:buNone/>
              <a:defRPr sz="5400"/>
            </a:lvl1pPr>
            <a:lvl2pPr marL="1028700" indent="0" algn="ctr">
              <a:buNone/>
              <a:defRPr sz="4500"/>
            </a:lvl2pPr>
            <a:lvl3pPr marL="2057400" indent="0" algn="ctr">
              <a:buNone/>
              <a:defRPr sz="4050"/>
            </a:lvl3pPr>
            <a:lvl4pPr marL="3086100" indent="0" algn="ctr">
              <a:buNone/>
              <a:defRPr sz="3600"/>
            </a:lvl4pPr>
            <a:lvl5pPr marL="4114800" indent="0" algn="ctr">
              <a:buNone/>
              <a:defRPr sz="3600"/>
            </a:lvl5pPr>
            <a:lvl6pPr marL="5143500" indent="0" algn="ctr">
              <a:buNone/>
              <a:defRPr sz="3600"/>
            </a:lvl6pPr>
            <a:lvl7pPr marL="6172200" indent="0" algn="ctr">
              <a:buNone/>
              <a:defRPr sz="3600"/>
            </a:lvl7pPr>
            <a:lvl8pPr marL="7200900" indent="0" algn="ctr">
              <a:buNone/>
              <a:defRPr sz="3600"/>
            </a:lvl8pPr>
            <a:lvl9pPr marL="8229600" indent="0" algn="ctr">
              <a:buNone/>
              <a:defRPr sz="3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2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7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748" y="6838958"/>
            <a:ext cx="17745075" cy="11410948"/>
          </a:xfrm>
        </p:spPr>
        <p:txBody>
          <a:bodyPr anchor="b"/>
          <a:lstStyle>
            <a:lvl1pPr>
              <a:defRPr sz="13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3748" y="18357858"/>
            <a:ext cx="17745075" cy="6000748"/>
          </a:xfrm>
        </p:spPr>
        <p:txBody>
          <a:bodyPr/>
          <a:lstStyle>
            <a:lvl1pPr marL="0" indent="0">
              <a:buNone/>
              <a:defRPr sz="5400">
                <a:solidFill>
                  <a:schemeClr val="tx1"/>
                </a:solidFill>
              </a:defRPr>
            </a:lvl1pPr>
            <a:lvl2pPr marL="102870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2pPr>
            <a:lvl3pPr marL="2057400" indent="0">
              <a:buNone/>
              <a:defRPr sz="4050">
                <a:solidFill>
                  <a:schemeClr val="tx1">
                    <a:tint val="75000"/>
                  </a:schemeClr>
                </a:solidFill>
              </a:defRPr>
            </a:lvl3pPr>
            <a:lvl4pPr marL="30861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4pPr>
            <a:lvl5pPr marL="4114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5pPr>
            <a:lvl6pPr marL="51435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6pPr>
            <a:lvl7pPr marL="61722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7pPr>
            <a:lvl8pPr marL="72009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8pPr>
            <a:lvl9pPr marL="82296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2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14463" y="7302500"/>
            <a:ext cx="8743950" cy="174053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5588" y="7302500"/>
            <a:ext cx="8743950" cy="174053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460506"/>
            <a:ext cx="17745075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7145" y="6724652"/>
            <a:ext cx="8703765" cy="3295648"/>
          </a:xfrm>
        </p:spPr>
        <p:txBody>
          <a:bodyPr anchor="b"/>
          <a:lstStyle>
            <a:lvl1pPr marL="0" indent="0">
              <a:buNone/>
              <a:defRPr sz="5400" b="1"/>
            </a:lvl1pPr>
            <a:lvl2pPr marL="1028700" indent="0">
              <a:buNone/>
              <a:defRPr sz="4500" b="1"/>
            </a:lvl2pPr>
            <a:lvl3pPr marL="2057400" indent="0">
              <a:buNone/>
              <a:defRPr sz="4050" b="1"/>
            </a:lvl3pPr>
            <a:lvl4pPr marL="3086100" indent="0">
              <a:buNone/>
              <a:defRPr sz="3600" b="1"/>
            </a:lvl4pPr>
            <a:lvl5pPr marL="4114800" indent="0">
              <a:buNone/>
              <a:defRPr sz="3600" b="1"/>
            </a:lvl5pPr>
            <a:lvl6pPr marL="5143500" indent="0">
              <a:buNone/>
              <a:defRPr sz="3600" b="1"/>
            </a:lvl6pPr>
            <a:lvl7pPr marL="6172200" indent="0">
              <a:buNone/>
              <a:defRPr sz="3600" b="1"/>
            </a:lvl7pPr>
            <a:lvl8pPr marL="7200900" indent="0">
              <a:buNone/>
              <a:defRPr sz="3600" b="1"/>
            </a:lvl8pPr>
            <a:lvl9pPr marL="8229600" indent="0">
              <a:buNone/>
              <a:defRPr sz="3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17145" y="10020300"/>
            <a:ext cx="8703765" cy="147383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415588" y="6724652"/>
            <a:ext cx="8746630" cy="3295648"/>
          </a:xfrm>
        </p:spPr>
        <p:txBody>
          <a:bodyPr anchor="b"/>
          <a:lstStyle>
            <a:lvl1pPr marL="0" indent="0">
              <a:buNone/>
              <a:defRPr sz="5400" b="1"/>
            </a:lvl1pPr>
            <a:lvl2pPr marL="1028700" indent="0">
              <a:buNone/>
              <a:defRPr sz="4500" b="1"/>
            </a:lvl2pPr>
            <a:lvl3pPr marL="2057400" indent="0">
              <a:buNone/>
              <a:defRPr sz="4050" b="1"/>
            </a:lvl3pPr>
            <a:lvl4pPr marL="3086100" indent="0">
              <a:buNone/>
              <a:defRPr sz="3600" b="1"/>
            </a:lvl4pPr>
            <a:lvl5pPr marL="4114800" indent="0">
              <a:buNone/>
              <a:defRPr sz="3600" b="1"/>
            </a:lvl5pPr>
            <a:lvl6pPr marL="5143500" indent="0">
              <a:buNone/>
              <a:defRPr sz="3600" b="1"/>
            </a:lvl6pPr>
            <a:lvl7pPr marL="6172200" indent="0">
              <a:buNone/>
              <a:defRPr sz="3600" b="1"/>
            </a:lvl7pPr>
            <a:lvl8pPr marL="7200900" indent="0">
              <a:buNone/>
              <a:defRPr sz="3600" b="1"/>
            </a:lvl8pPr>
            <a:lvl9pPr marL="8229600" indent="0">
              <a:buNone/>
              <a:defRPr sz="3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415588" y="10020300"/>
            <a:ext cx="8746630" cy="147383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7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5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828800"/>
            <a:ext cx="6635651" cy="640080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6629" y="3949706"/>
            <a:ext cx="10415588" cy="19494500"/>
          </a:xfrm>
        </p:spPr>
        <p:txBody>
          <a:bodyPr/>
          <a:lstStyle>
            <a:lvl1pPr>
              <a:defRPr sz="7200"/>
            </a:lvl1pPr>
            <a:lvl2pPr>
              <a:defRPr sz="6300"/>
            </a:lvl2pPr>
            <a:lvl3pPr>
              <a:defRPr sz="5400"/>
            </a:lvl3pPr>
            <a:lvl4pPr>
              <a:defRPr sz="4500"/>
            </a:lvl4pPr>
            <a:lvl5pPr>
              <a:defRPr sz="4500"/>
            </a:lvl5pPr>
            <a:lvl6pPr>
              <a:defRPr sz="4500"/>
            </a:lvl6pPr>
            <a:lvl7pPr>
              <a:defRPr sz="4500"/>
            </a:lvl7pPr>
            <a:lvl8pPr>
              <a:defRPr sz="4500"/>
            </a:lvl8pPr>
            <a:lvl9pPr>
              <a:defRPr sz="4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7142" y="8229600"/>
            <a:ext cx="6635651" cy="15246352"/>
          </a:xfrm>
        </p:spPr>
        <p:txBody>
          <a:bodyPr/>
          <a:lstStyle>
            <a:lvl1pPr marL="0" indent="0">
              <a:buNone/>
              <a:defRPr sz="3600"/>
            </a:lvl1pPr>
            <a:lvl2pPr marL="1028700" indent="0">
              <a:buNone/>
              <a:defRPr sz="3150"/>
            </a:lvl2pPr>
            <a:lvl3pPr marL="2057400" indent="0">
              <a:buNone/>
              <a:defRPr sz="2700"/>
            </a:lvl3pPr>
            <a:lvl4pPr marL="3086100" indent="0">
              <a:buNone/>
              <a:defRPr sz="2250"/>
            </a:lvl4pPr>
            <a:lvl5pPr marL="4114800" indent="0">
              <a:buNone/>
              <a:defRPr sz="2250"/>
            </a:lvl5pPr>
            <a:lvl6pPr marL="5143500" indent="0">
              <a:buNone/>
              <a:defRPr sz="2250"/>
            </a:lvl6pPr>
            <a:lvl7pPr marL="6172200" indent="0">
              <a:buNone/>
              <a:defRPr sz="2250"/>
            </a:lvl7pPr>
            <a:lvl8pPr marL="7200900" indent="0">
              <a:buNone/>
              <a:defRPr sz="2250"/>
            </a:lvl8pPr>
            <a:lvl9pPr marL="8229600" indent="0">
              <a:buNone/>
              <a:defRPr sz="22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11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828800"/>
            <a:ext cx="6635651" cy="640080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46629" y="3949706"/>
            <a:ext cx="10415588" cy="19494500"/>
          </a:xfrm>
        </p:spPr>
        <p:txBody>
          <a:bodyPr anchor="t"/>
          <a:lstStyle>
            <a:lvl1pPr marL="0" indent="0">
              <a:buNone/>
              <a:defRPr sz="7200"/>
            </a:lvl1pPr>
            <a:lvl2pPr marL="1028700" indent="0">
              <a:buNone/>
              <a:defRPr sz="6300"/>
            </a:lvl2pPr>
            <a:lvl3pPr marL="2057400" indent="0">
              <a:buNone/>
              <a:defRPr sz="5400"/>
            </a:lvl3pPr>
            <a:lvl4pPr marL="3086100" indent="0">
              <a:buNone/>
              <a:defRPr sz="4500"/>
            </a:lvl4pPr>
            <a:lvl5pPr marL="4114800" indent="0">
              <a:buNone/>
              <a:defRPr sz="4500"/>
            </a:lvl5pPr>
            <a:lvl6pPr marL="5143500" indent="0">
              <a:buNone/>
              <a:defRPr sz="4500"/>
            </a:lvl6pPr>
            <a:lvl7pPr marL="6172200" indent="0">
              <a:buNone/>
              <a:defRPr sz="4500"/>
            </a:lvl7pPr>
            <a:lvl8pPr marL="7200900" indent="0">
              <a:buNone/>
              <a:defRPr sz="4500"/>
            </a:lvl8pPr>
            <a:lvl9pPr marL="8229600" indent="0">
              <a:buNone/>
              <a:defRPr sz="4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7142" y="8229600"/>
            <a:ext cx="6635651" cy="15246352"/>
          </a:xfrm>
        </p:spPr>
        <p:txBody>
          <a:bodyPr/>
          <a:lstStyle>
            <a:lvl1pPr marL="0" indent="0">
              <a:buNone/>
              <a:defRPr sz="3600"/>
            </a:lvl1pPr>
            <a:lvl2pPr marL="1028700" indent="0">
              <a:buNone/>
              <a:defRPr sz="3150"/>
            </a:lvl2pPr>
            <a:lvl3pPr marL="2057400" indent="0">
              <a:buNone/>
              <a:defRPr sz="2700"/>
            </a:lvl3pPr>
            <a:lvl4pPr marL="3086100" indent="0">
              <a:buNone/>
              <a:defRPr sz="2250"/>
            </a:lvl4pPr>
            <a:lvl5pPr marL="4114800" indent="0">
              <a:buNone/>
              <a:defRPr sz="2250"/>
            </a:lvl5pPr>
            <a:lvl6pPr marL="5143500" indent="0">
              <a:buNone/>
              <a:defRPr sz="2250"/>
            </a:lvl6pPr>
            <a:lvl7pPr marL="6172200" indent="0">
              <a:buNone/>
              <a:defRPr sz="2250"/>
            </a:lvl7pPr>
            <a:lvl8pPr marL="7200900" indent="0">
              <a:buNone/>
              <a:defRPr sz="2250"/>
            </a:lvl8pPr>
            <a:lvl9pPr marL="8229600" indent="0">
              <a:buNone/>
              <a:defRPr sz="22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8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18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723270" y="1460500"/>
            <a:ext cx="4436269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14464" y="1460500"/>
            <a:ext cx="13051631" cy="2324735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6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4463" y="1460506"/>
            <a:ext cx="17745075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4463" y="7302500"/>
            <a:ext cx="17745075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14463" y="25425406"/>
            <a:ext cx="462915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C9519-E666-436D-B200-80682E58CBA9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5138" y="25425406"/>
            <a:ext cx="6943725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530388" y="25425406"/>
            <a:ext cx="462915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DD0C-6884-4EF0-96DA-D8540D822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2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057400" rtl="0" eaLnBrk="1" latinLnBrk="0" hangingPunct="1">
        <a:lnSpc>
          <a:spcPct val="90000"/>
        </a:lnSpc>
        <a:spcBef>
          <a:spcPct val="0"/>
        </a:spcBef>
        <a:buNone/>
        <a:defRPr sz="9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20574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5717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4pPr>
      <a:lvl5pPr marL="46291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5pPr>
      <a:lvl6pPr marL="56578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6pPr>
      <a:lvl7pPr marL="66865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7pPr>
      <a:lvl8pPr marL="77152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8pPr>
      <a:lvl9pPr marL="87439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3pPr>
      <a:lvl4pPr marL="30861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5pPr>
      <a:lvl6pPr marL="51435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6pPr>
      <a:lvl7pPr marL="61722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8pPr>
      <a:lvl9pPr marL="82296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Flowchart: Process 772">
            <a:extLst>
              <a:ext uri="{FF2B5EF4-FFF2-40B4-BE49-F238E27FC236}">
                <a16:creationId xmlns:a16="http://schemas.microsoft.com/office/drawing/2014/main" id="{6236B196-9A4E-4616-BAB7-E8C45AED3888}"/>
              </a:ext>
            </a:extLst>
          </p:cNvPr>
          <p:cNvSpPr/>
          <p:nvPr/>
        </p:nvSpPr>
        <p:spPr>
          <a:xfrm>
            <a:off x="11273332" y="665007"/>
            <a:ext cx="8643963" cy="4800463"/>
          </a:xfrm>
          <a:prstGeom prst="flowChartProcess">
            <a:avLst/>
          </a:prstGeom>
          <a:solidFill>
            <a:srgbClr val="C00000">
              <a:alpha val="1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4" name="Flowchart: Process 753">
            <a:extLst>
              <a:ext uri="{FF2B5EF4-FFF2-40B4-BE49-F238E27FC236}">
                <a16:creationId xmlns:a16="http://schemas.microsoft.com/office/drawing/2014/main" id="{A3872A63-832F-4C13-AB45-5ACCEF2F6AEE}"/>
              </a:ext>
            </a:extLst>
          </p:cNvPr>
          <p:cNvSpPr/>
          <p:nvPr/>
        </p:nvSpPr>
        <p:spPr>
          <a:xfrm>
            <a:off x="7053943" y="20512991"/>
            <a:ext cx="12863352" cy="5395343"/>
          </a:xfrm>
          <a:prstGeom prst="flowChartProcess">
            <a:avLst/>
          </a:prstGeom>
          <a:solidFill>
            <a:srgbClr val="FFC000">
              <a:alpha val="1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" name="Flowchart: Process 763">
            <a:extLst>
              <a:ext uri="{FF2B5EF4-FFF2-40B4-BE49-F238E27FC236}">
                <a16:creationId xmlns:a16="http://schemas.microsoft.com/office/drawing/2014/main" id="{25A6C14F-410B-4299-8FB2-208FB23B7CFC}"/>
              </a:ext>
            </a:extLst>
          </p:cNvPr>
          <p:cNvSpPr/>
          <p:nvPr/>
        </p:nvSpPr>
        <p:spPr>
          <a:xfrm>
            <a:off x="13931342" y="5934662"/>
            <a:ext cx="5985953" cy="6316018"/>
          </a:xfrm>
          <a:prstGeom prst="flowChartProcess">
            <a:avLst/>
          </a:prstGeom>
          <a:solidFill>
            <a:srgbClr val="C00000">
              <a:alpha val="1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Flowchart: Stored Data 73">
                <a:extLst>
                  <a:ext uri="{FF2B5EF4-FFF2-40B4-BE49-F238E27FC236}">
                    <a16:creationId xmlns:a16="http://schemas.microsoft.com/office/drawing/2014/main" id="{E82A09C2-9902-4FD4-8192-C278032B71EC}"/>
                  </a:ext>
                </a:extLst>
              </p:cNvPr>
              <p:cNvSpPr/>
              <p:nvPr/>
            </p:nvSpPr>
            <p:spPr>
              <a:xfrm>
                <a:off x="7592033" y="20971517"/>
                <a:ext cx="7073394" cy="4369027"/>
              </a:xfrm>
              <a:prstGeom prst="flowChartOnlineStorage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𝑣𝑎𝑐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# eternal inflation epochs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#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e</a:t>
                </a:r>
                <a:r>
                  <a:rPr lang="en-US" sz="2400" dirty="0">
                    <a:solidFill>
                      <a:schemeClr val="tx1"/>
                    </a:solidFill>
                  </a:rPr>
                  <a:t>-folds stochastic eternal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Topological eternal?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Status flags if discarded</a:t>
                </a:r>
              </a:p>
            </p:txBody>
          </p:sp>
        </mc:Choice>
        <mc:Fallback xmlns="">
          <p:sp>
            <p:nvSpPr>
              <p:cNvPr id="74" name="Flowchart: Stored Data 73">
                <a:extLst>
                  <a:ext uri="{FF2B5EF4-FFF2-40B4-BE49-F238E27FC236}">
                    <a16:creationId xmlns:a16="http://schemas.microsoft.com/office/drawing/2014/main" id="{E82A09C2-9902-4FD4-8192-C278032B7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033" y="20971517"/>
                <a:ext cx="7073394" cy="4369027"/>
              </a:xfrm>
              <a:prstGeom prst="flowChartOnlineStorag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Flowchart: Predefined Process 80">
            <a:extLst>
              <a:ext uri="{FF2B5EF4-FFF2-40B4-BE49-F238E27FC236}">
                <a16:creationId xmlns:a16="http://schemas.microsoft.com/office/drawing/2014/main" id="{1793BE31-DF58-4EBE-BBA5-BF8EFE5E4B37}"/>
              </a:ext>
            </a:extLst>
          </p:cNvPr>
          <p:cNvSpPr/>
          <p:nvPr/>
        </p:nvSpPr>
        <p:spPr>
          <a:xfrm>
            <a:off x="21682218" y="7550272"/>
            <a:ext cx="2473398" cy="1475420"/>
          </a:xfrm>
          <a:prstGeom prst="flowChartPredefinedProcess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Check stochastic eternal</a:t>
            </a:r>
          </a:p>
        </p:txBody>
      </p:sp>
      <p:cxnSp>
        <p:nvCxnSpPr>
          <p:cNvPr id="564" name="Connector: Elbow 563">
            <a:extLst>
              <a:ext uri="{FF2B5EF4-FFF2-40B4-BE49-F238E27FC236}">
                <a16:creationId xmlns:a16="http://schemas.microsoft.com/office/drawing/2014/main" id="{72773944-8DB9-40AE-89DB-A49816E3A272}"/>
              </a:ext>
            </a:extLst>
          </p:cNvPr>
          <p:cNvCxnSpPr>
            <a:cxnSpLocks/>
            <a:stCxn id="523" idx="6"/>
            <a:endCxn id="108" idx="2"/>
          </p:cNvCxnSpPr>
          <p:nvPr/>
        </p:nvCxnSpPr>
        <p:spPr>
          <a:xfrm flipV="1">
            <a:off x="6897768" y="18476770"/>
            <a:ext cx="4491527" cy="72425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: Elbow 613">
            <a:extLst>
              <a:ext uri="{FF2B5EF4-FFF2-40B4-BE49-F238E27FC236}">
                <a16:creationId xmlns:a16="http://schemas.microsoft.com/office/drawing/2014/main" id="{2DE498A3-3730-40F5-8141-26C15A38CBA4}"/>
              </a:ext>
            </a:extLst>
          </p:cNvPr>
          <p:cNvCxnSpPr>
            <a:cxnSpLocks/>
            <a:stCxn id="284" idx="3"/>
            <a:endCxn id="823" idx="4"/>
          </p:cNvCxnSpPr>
          <p:nvPr/>
        </p:nvCxnSpPr>
        <p:spPr>
          <a:xfrm flipV="1">
            <a:off x="12522332" y="6753470"/>
            <a:ext cx="438648" cy="884425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: Elbow 672">
            <a:extLst>
              <a:ext uri="{FF2B5EF4-FFF2-40B4-BE49-F238E27FC236}">
                <a16:creationId xmlns:a16="http://schemas.microsoft.com/office/drawing/2014/main" id="{91AC1E63-0F6A-4231-9499-8C836C16CA30}"/>
              </a:ext>
            </a:extLst>
          </p:cNvPr>
          <p:cNvCxnSpPr>
            <a:cxnSpLocks/>
            <a:stCxn id="66" idx="2"/>
            <a:endCxn id="608" idx="0"/>
          </p:cNvCxnSpPr>
          <p:nvPr/>
        </p:nvCxnSpPr>
        <p:spPr>
          <a:xfrm rot="5400000">
            <a:off x="6533529" y="6888291"/>
            <a:ext cx="4190707" cy="524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" name="Flowchart: Decision 716">
            <a:extLst>
              <a:ext uri="{FF2B5EF4-FFF2-40B4-BE49-F238E27FC236}">
                <a16:creationId xmlns:a16="http://schemas.microsoft.com/office/drawing/2014/main" id="{33746B11-79A4-46C2-B795-FB3B14B67A29}"/>
              </a:ext>
            </a:extLst>
          </p:cNvPr>
          <p:cNvSpPr/>
          <p:nvPr/>
        </p:nvSpPr>
        <p:spPr>
          <a:xfrm>
            <a:off x="11807338" y="998981"/>
            <a:ext cx="2280196" cy="1475419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Reheat?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8" name="Flowchart: Decision 717">
                <a:extLst>
                  <a:ext uri="{FF2B5EF4-FFF2-40B4-BE49-F238E27FC236}">
                    <a16:creationId xmlns:a16="http://schemas.microsoft.com/office/drawing/2014/main" id="{355FE05B-02C9-434E-8649-0DE00DC0941F}"/>
                  </a:ext>
                </a:extLst>
              </p:cNvPr>
              <p:cNvSpPr/>
              <p:nvPr/>
            </p:nvSpPr>
            <p:spPr>
              <a:xfrm>
                <a:off x="14741549" y="984664"/>
                <a:ext cx="2280196" cy="1475419"/>
              </a:xfrm>
              <a:prstGeom prst="flowChartDecision">
                <a:avLst/>
              </a:prstGeom>
              <a:solidFill>
                <a:schemeClr val="bg1"/>
              </a:solidFill>
              <a:ln w="63500" cmpd="thickThin"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8" name="Flowchart: Decision 717">
                <a:extLst>
                  <a:ext uri="{FF2B5EF4-FFF2-40B4-BE49-F238E27FC236}">
                    <a16:creationId xmlns:a16="http://schemas.microsoft.com/office/drawing/2014/main" id="{355FE05B-02C9-434E-8649-0DE00DC094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1549" y="984664"/>
                <a:ext cx="2280196" cy="1475419"/>
              </a:xfrm>
              <a:prstGeom prst="flowChartDecision">
                <a:avLst/>
              </a:prstGeom>
              <a:blipFill>
                <a:blip r:embed="rId3"/>
                <a:stretch>
                  <a:fillRect/>
                </a:stretch>
              </a:blipFill>
              <a:ln w="63500" cmpd="thickThin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9" name="Straight Arrow Connector 718">
            <a:extLst>
              <a:ext uri="{FF2B5EF4-FFF2-40B4-BE49-F238E27FC236}">
                <a16:creationId xmlns:a16="http://schemas.microsoft.com/office/drawing/2014/main" id="{29037DBA-7D83-4008-960E-5029E9D32129}"/>
              </a:ext>
            </a:extLst>
          </p:cNvPr>
          <p:cNvCxnSpPr>
            <a:cxnSpLocks/>
            <a:stCxn id="735" idx="0"/>
            <a:endCxn id="717" idx="2"/>
          </p:cNvCxnSpPr>
          <p:nvPr/>
        </p:nvCxnSpPr>
        <p:spPr>
          <a:xfrm flipH="1" flipV="1">
            <a:off x="12947436" y="2474400"/>
            <a:ext cx="1" cy="7370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52798571-5A62-46C9-ACDD-558ABB1622D1}"/>
              </a:ext>
            </a:extLst>
          </p:cNvPr>
          <p:cNvCxnSpPr>
            <a:cxnSpLocks/>
            <a:stCxn id="717" idx="3"/>
            <a:endCxn id="718" idx="1"/>
          </p:cNvCxnSpPr>
          <p:nvPr/>
        </p:nvCxnSpPr>
        <p:spPr>
          <a:xfrm flipV="1">
            <a:off x="14087534" y="1722374"/>
            <a:ext cx="654015" cy="143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F44E2211-B422-45C1-AB01-B92A82F34094}"/>
                  </a:ext>
                </a:extLst>
              </p:cNvPr>
              <p:cNvSpPr/>
              <p:nvPr/>
            </p:nvSpPr>
            <p:spPr>
              <a:xfrm>
                <a:off x="14730396" y="3193958"/>
                <a:ext cx="2287239" cy="14754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exit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F44E2211-B422-45C1-AB01-B92A82F34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0396" y="3193958"/>
                <a:ext cx="2287239" cy="14754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2DF78566-5EB1-4B8F-8047-4807CB62E40A}"/>
                  </a:ext>
                </a:extLst>
              </p:cNvPr>
              <p:cNvSpPr/>
              <p:nvPr/>
            </p:nvSpPr>
            <p:spPr>
              <a:xfrm>
                <a:off x="11807339" y="3211478"/>
                <a:ext cx="2280195" cy="14754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Search for breakdown of SRA: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end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2DF78566-5EB1-4B8F-8047-4807CB62E4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7339" y="3211478"/>
                <a:ext cx="2280195" cy="14754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9" name="Group 968">
            <a:extLst>
              <a:ext uri="{FF2B5EF4-FFF2-40B4-BE49-F238E27FC236}">
                <a16:creationId xmlns:a16="http://schemas.microsoft.com/office/drawing/2014/main" id="{F7DC3D54-A419-47D9-83AA-4CA678201FC5}"/>
              </a:ext>
            </a:extLst>
          </p:cNvPr>
          <p:cNvGrpSpPr/>
          <p:nvPr/>
        </p:nvGrpSpPr>
        <p:grpSpPr>
          <a:xfrm>
            <a:off x="681206" y="5937032"/>
            <a:ext cx="8648114" cy="14078956"/>
            <a:chOff x="681206" y="5937032"/>
            <a:chExt cx="8648114" cy="140789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1F1B3D03-673C-44FC-99D7-55D77D3C2B6D}"/>
                    </a:ext>
                  </a:extLst>
                </p:cNvPr>
                <p:cNvSpPr txBox="1"/>
                <p:nvPr/>
              </p:nvSpPr>
              <p:spPr>
                <a:xfrm>
                  <a:off x="7578974" y="6030723"/>
                  <a:ext cx="1034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←0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1F1B3D03-673C-44FC-99D7-55D77D3C2B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8974" y="6030723"/>
                  <a:ext cx="103412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113A6C99-356D-4FE4-BF88-2A28AB200E1D}"/>
                </a:ext>
              </a:extLst>
            </p:cNvPr>
            <p:cNvSpPr/>
            <p:nvPr/>
          </p:nvSpPr>
          <p:spPr>
            <a:xfrm>
              <a:off x="681206" y="5937032"/>
              <a:ext cx="8648114" cy="14078956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55D7C1FB-6F08-48F5-B98E-F6B14D1AE294}"/>
                </a:ext>
              </a:extLst>
            </p:cNvPr>
            <p:cNvSpPr/>
            <p:nvPr/>
          </p:nvSpPr>
          <p:spPr>
            <a:xfrm>
              <a:off x="5436284" y="6550881"/>
              <a:ext cx="2280195" cy="1475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Find minimum of the next </a:t>
              </a:r>
              <a:br>
                <a:rPr lang="en-US" sz="2400" dirty="0">
                  <a:solidFill>
                    <a:schemeClr val="tx1"/>
                  </a:solidFill>
                </a:rPr>
              </a:br>
              <a:r>
                <a:rPr lang="en-US" sz="2400" dirty="0">
                  <a:solidFill>
                    <a:schemeClr val="tx1"/>
                  </a:solidFill>
                </a:rPr>
                <a:t>potential basin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B8C29A18-3E5D-4613-8554-D7D511258AC7}"/>
                </a:ext>
              </a:extLst>
            </p:cNvPr>
            <p:cNvSpPr/>
            <p:nvPr/>
          </p:nvSpPr>
          <p:spPr>
            <a:xfrm>
              <a:off x="5439392" y="12683618"/>
              <a:ext cx="2280195" cy="1475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Compute maximum no. </a:t>
              </a:r>
              <a:br>
                <a:rPr lang="en-US" sz="2400" dirty="0">
                  <a:solidFill>
                    <a:schemeClr val="tx1"/>
                  </a:solidFill>
                </a:rPr>
              </a:br>
              <a:r>
                <a:rPr lang="en-US" sz="2400" dirty="0">
                  <a:solidFill>
                    <a:schemeClr val="tx1"/>
                  </a:solidFill>
                </a:rPr>
                <a:t>of e-folds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Flowchart: Decision 215">
                  <a:extLst>
                    <a:ext uri="{FF2B5EF4-FFF2-40B4-BE49-F238E27FC236}">
                      <a16:creationId xmlns:a16="http://schemas.microsoft.com/office/drawing/2014/main" id="{2E7F8FDC-85BB-422F-9885-507D37CFA637}"/>
                    </a:ext>
                  </a:extLst>
                </p:cNvPr>
                <p:cNvSpPr/>
                <p:nvPr/>
              </p:nvSpPr>
              <p:spPr>
                <a:xfrm>
                  <a:off x="2567339" y="12670245"/>
                  <a:ext cx="2281642" cy="1475419"/>
                </a:xfrm>
                <a:prstGeom prst="flowChartDecision">
                  <a:avLst/>
                </a:prstGeom>
                <a:solidFill>
                  <a:schemeClr val="bg1"/>
                </a:solidFill>
                <a:ln w="63500" cmpd="thickThin"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Flowchart: Decision 215">
                  <a:extLst>
                    <a:ext uri="{FF2B5EF4-FFF2-40B4-BE49-F238E27FC236}">
                      <a16:creationId xmlns:a16="http://schemas.microsoft.com/office/drawing/2014/main" id="{2E7F8FDC-85BB-422F-9885-507D37CFA6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7339" y="12670245"/>
                  <a:ext cx="2281642" cy="1475419"/>
                </a:xfrm>
                <a:prstGeom prst="flowChartDecision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63500" cmpd="thickThin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7BC562D9-FA2D-409C-9805-30F0021DD82F}"/>
                </a:ext>
              </a:extLst>
            </p:cNvPr>
            <p:cNvSpPr/>
            <p:nvPr/>
          </p:nvSpPr>
          <p:spPr>
            <a:xfrm>
              <a:off x="2571513" y="16940450"/>
              <a:ext cx="2280195" cy="1475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Compute Hawking-Moss transition rate</a:t>
              </a: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00E4DBE5-0F3C-4401-9368-F8B5D6B0086B}"/>
                </a:ext>
              </a:extLst>
            </p:cNvPr>
            <p:cNvSpPr/>
            <p:nvPr/>
          </p:nvSpPr>
          <p:spPr>
            <a:xfrm>
              <a:off x="5447189" y="14733298"/>
              <a:ext cx="2280195" cy="1475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Compute tunneling rate for barrier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Flowchart: Decision 263">
                  <a:extLst>
                    <a:ext uri="{FF2B5EF4-FFF2-40B4-BE49-F238E27FC236}">
                      <a16:creationId xmlns:a16="http://schemas.microsoft.com/office/drawing/2014/main" id="{2556DB06-30A6-4C65-859F-A2F1098365EE}"/>
                    </a:ext>
                  </a:extLst>
                </p:cNvPr>
                <p:cNvSpPr/>
                <p:nvPr/>
              </p:nvSpPr>
              <p:spPr>
                <a:xfrm>
                  <a:off x="5443561" y="16940451"/>
                  <a:ext cx="2281642" cy="1475419"/>
                </a:xfrm>
                <a:prstGeom prst="flowChartDecision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Bounded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 large?</a:t>
                  </a:r>
                </a:p>
              </p:txBody>
            </p:sp>
          </mc:Choice>
          <mc:Fallback xmlns="">
            <p:sp>
              <p:nvSpPr>
                <p:cNvPr id="264" name="Flowchart: Decision 263">
                  <a:extLst>
                    <a:ext uri="{FF2B5EF4-FFF2-40B4-BE49-F238E27FC236}">
                      <a16:creationId xmlns:a16="http://schemas.microsoft.com/office/drawing/2014/main" id="{2556DB06-30A6-4C65-859F-A2F1098365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3561" y="16940451"/>
                  <a:ext cx="2281642" cy="1475419"/>
                </a:xfrm>
                <a:prstGeom prst="flowChartDecision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487DE8EC-2999-4E58-8E81-942D76F831B5}"/>
                </a:ext>
              </a:extLst>
            </p:cNvPr>
            <p:cNvCxnSpPr>
              <a:cxnSpLocks/>
              <a:stCxn id="458" idx="4"/>
              <a:endCxn id="217" idx="0"/>
            </p:cNvCxnSpPr>
            <p:nvPr/>
          </p:nvCxnSpPr>
          <p:spPr>
            <a:xfrm>
              <a:off x="3705519" y="15772115"/>
              <a:ext cx="6092" cy="116833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0BE4408F-82EC-4BC4-8432-5CFF90556A3E}"/>
                </a:ext>
              </a:extLst>
            </p:cNvPr>
            <p:cNvCxnSpPr>
              <a:cxnSpLocks/>
              <a:stCxn id="217" idx="3"/>
              <a:endCxn id="264" idx="1"/>
            </p:cNvCxnSpPr>
            <p:nvPr/>
          </p:nvCxnSpPr>
          <p:spPr>
            <a:xfrm>
              <a:off x="4851708" y="17678160"/>
              <a:ext cx="591853" cy="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315F0F04-AC99-4D93-9393-D9A3E38B56DA}"/>
                </a:ext>
              </a:extLst>
            </p:cNvPr>
            <p:cNvCxnSpPr>
              <a:cxnSpLocks/>
              <a:stCxn id="218" idx="2"/>
              <a:endCxn id="264" idx="0"/>
            </p:cNvCxnSpPr>
            <p:nvPr/>
          </p:nvCxnSpPr>
          <p:spPr>
            <a:xfrm flipH="1">
              <a:off x="6584382" y="16208718"/>
              <a:ext cx="2905" cy="73173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Flowchart: Decision 281">
                  <a:extLst>
                    <a:ext uri="{FF2B5EF4-FFF2-40B4-BE49-F238E27FC236}">
                      <a16:creationId xmlns:a16="http://schemas.microsoft.com/office/drawing/2014/main" id="{E66529B4-B26D-4ED3-9105-78FD1C4F4DF4}"/>
                    </a:ext>
                  </a:extLst>
                </p:cNvPr>
                <p:cNvSpPr/>
                <p:nvPr/>
              </p:nvSpPr>
              <p:spPr>
                <a:xfrm>
                  <a:off x="5439392" y="8549664"/>
                  <a:ext cx="2281642" cy="1475419"/>
                </a:xfrm>
                <a:prstGeom prst="flowChartDecision">
                  <a:avLst/>
                </a:prstGeom>
                <a:solidFill>
                  <a:schemeClr val="bg1"/>
                </a:solidFill>
                <a:ln w="63500" cmpd="thickThin"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2" name="Flowchart: Decision 281">
                  <a:extLst>
                    <a:ext uri="{FF2B5EF4-FFF2-40B4-BE49-F238E27FC236}">
                      <a16:creationId xmlns:a16="http://schemas.microsoft.com/office/drawing/2014/main" id="{E66529B4-B26D-4ED3-9105-78FD1C4F4D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9392" y="8549664"/>
                  <a:ext cx="2281642" cy="1475419"/>
                </a:xfrm>
                <a:prstGeom prst="flowChartDecision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63500" cmpd="thickThin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5" name="Flowchart: Decision 284">
              <a:extLst>
                <a:ext uri="{FF2B5EF4-FFF2-40B4-BE49-F238E27FC236}">
                  <a16:creationId xmlns:a16="http://schemas.microsoft.com/office/drawing/2014/main" id="{50E20D87-0F17-4A68-84C6-E57CDD39B708}"/>
                </a:ext>
              </a:extLst>
            </p:cNvPr>
            <p:cNvSpPr/>
            <p:nvPr/>
          </p:nvSpPr>
          <p:spPr>
            <a:xfrm>
              <a:off x="5439392" y="10599455"/>
              <a:ext cx="2281642" cy="1475419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Reheat?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Flowchart: Decision 292">
                  <a:extLst>
                    <a:ext uri="{FF2B5EF4-FFF2-40B4-BE49-F238E27FC236}">
                      <a16:creationId xmlns:a16="http://schemas.microsoft.com/office/drawing/2014/main" id="{4A9F8C3A-BC55-4F87-9000-8CD4A6324B8A}"/>
                    </a:ext>
                  </a:extLst>
                </p:cNvPr>
                <p:cNvSpPr/>
                <p:nvPr/>
              </p:nvSpPr>
              <p:spPr>
                <a:xfrm>
                  <a:off x="1256792" y="8543043"/>
                  <a:ext cx="2281642" cy="1475419"/>
                </a:xfrm>
                <a:prstGeom prst="flowChartDecision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3" name="Flowchart: Decision 292">
                  <a:extLst>
                    <a:ext uri="{FF2B5EF4-FFF2-40B4-BE49-F238E27FC236}">
                      <a16:creationId xmlns:a16="http://schemas.microsoft.com/office/drawing/2014/main" id="{4A9F8C3A-BC55-4F87-9000-8CD4A6324B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6792" y="8543043"/>
                  <a:ext cx="2281642" cy="1475419"/>
                </a:xfrm>
                <a:prstGeom prst="flowChartDecision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4" name="Connector: Elbow 293">
              <a:extLst>
                <a:ext uri="{FF2B5EF4-FFF2-40B4-BE49-F238E27FC236}">
                  <a16:creationId xmlns:a16="http://schemas.microsoft.com/office/drawing/2014/main" id="{C2BA077B-94C9-49C2-A9BF-D304BED73ABF}"/>
                </a:ext>
              </a:extLst>
            </p:cNvPr>
            <p:cNvCxnSpPr>
              <a:cxnSpLocks/>
              <a:stCxn id="293" idx="2"/>
              <a:endCxn id="285" idx="1"/>
            </p:cNvCxnSpPr>
            <p:nvPr/>
          </p:nvCxnSpPr>
          <p:spPr>
            <a:xfrm rot="16200000" flipH="1">
              <a:off x="3259151" y="9156923"/>
              <a:ext cx="1318703" cy="3041779"/>
            </a:xfrm>
            <a:prstGeom prst="bentConnector2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Arrow Connector 303">
              <a:extLst>
                <a:ext uri="{FF2B5EF4-FFF2-40B4-BE49-F238E27FC236}">
                  <a16:creationId xmlns:a16="http://schemas.microsoft.com/office/drawing/2014/main" id="{5CA145E1-1C25-47F2-B818-428B61471704}"/>
                </a:ext>
              </a:extLst>
            </p:cNvPr>
            <p:cNvCxnSpPr>
              <a:cxnSpLocks/>
              <a:stCxn id="282" idx="1"/>
              <a:endCxn id="567" idx="6"/>
            </p:cNvCxnSpPr>
            <p:nvPr/>
          </p:nvCxnSpPr>
          <p:spPr>
            <a:xfrm flipH="1">
              <a:off x="4869240" y="9287374"/>
              <a:ext cx="570152" cy="247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D209F9E6-E87F-4C20-BCC1-D0E7F8F3DFE3}"/>
                </a:ext>
              </a:extLst>
            </p:cNvPr>
            <p:cNvCxnSpPr>
              <a:cxnSpLocks/>
              <a:stCxn id="285" idx="0"/>
              <a:endCxn id="282" idx="2"/>
            </p:cNvCxnSpPr>
            <p:nvPr/>
          </p:nvCxnSpPr>
          <p:spPr>
            <a:xfrm flipV="1">
              <a:off x="6580213" y="10025083"/>
              <a:ext cx="0" cy="57437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Arrow Connector 309">
              <a:extLst>
                <a:ext uri="{FF2B5EF4-FFF2-40B4-BE49-F238E27FC236}">
                  <a16:creationId xmlns:a16="http://schemas.microsoft.com/office/drawing/2014/main" id="{799F6D0B-BA8E-4AD1-B4FD-724F15DE9D84}"/>
                </a:ext>
              </a:extLst>
            </p:cNvPr>
            <p:cNvCxnSpPr>
              <a:cxnSpLocks/>
              <a:stCxn id="285" idx="2"/>
              <a:endCxn id="215" idx="0"/>
            </p:cNvCxnSpPr>
            <p:nvPr/>
          </p:nvCxnSpPr>
          <p:spPr>
            <a:xfrm flipH="1">
              <a:off x="6579490" y="12074874"/>
              <a:ext cx="723" cy="60874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Arrow Connector 329">
              <a:extLst>
                <a:ext uri="{FF2B5EF4-FFF2-40B4-BE49-F238E27FC236}">
                  <a16:creationId xmlns:a16="http://schemas.microsoft.com/office/drawing/2014/main" id="{7A599D0B-7BB9-4691-84A6-DF84C398929A}"/>
                </a:ext>
              </a:extLst>
            </p:cNvPr>
            <p:cNvCxnSpPr>
              <a:cxnSpLocks/>
              <a:stCxn id="215" idx="1"/>
              <a:endCxn id="216" idx="3"/>
            </p:cNvCxnSpPr>
            <p:nvPr/>
          </p:nvCxnSpPr>
          <p:spPr>
            <a:xfrm flipH="1" flipV="1">
              <a:off x="4848981" y="13407955"/>
              <a:ext cx="590411" cy="1337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2C5C5037-050C-49EA-81BE-845ED87A1829}"/>
                    </a:ext>
                  </a:extLst>
                </p:cNvPr>
                <p:cNvSpPr txBox="1"/>
                <p:nvPr/>
              </p:nvSpPr>
              <p:spPr>
                <a:xfrm>
                  <a:off x="3202570" y="10776114"/>
                  <a:ext cx="158178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2C5C5037-050C-49EA-81BE-845ED87A18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70" y="10776114"/>
                  <a:ext cx="1581780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1" name="Connector: Elbow 410">
              <a:extLst>
                <a:ext uri="{FF2B5EF4-FFF2-40B4-BE49-F238E27FC236}">
                  <a16:creationId xmlns:a16="http://schemas.microsoft.com/office/drawing/2014/main" id="{4097BE6A-B216-4F0A-9D17-D7788E520EA3}"/>
                </a:ext>
              </a:extLst>
            </p:cNvPr>
            <p:cNvCxnSpPr>
              <a:cxnSpLocks/>
              <a:stCxn id="213" idx="1"/>
              <a:endCxn id="293" idx="0"/>
            </p:cNvCxnSpPr>
            <p:nvPr/>
          </p:nvCxnSpPr>
          <p:spPr>
            <a:xfrm rot="10800000" flipV="1">
              <a:off x="2397614" y="7288591"/>
              <a:ext cx="3038671" cy="1254452"/>
            </a:xfrm>
            <a:prstGeom prst="bentConnector2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E1B896A7-4C3A-4A14-ADC9-557CA15D11B1}"/>
                </a:ext>
              </a:extLst>
            </p:cNvPr>
            <p:cNvCxnSpPr>
              <a:cxnSpLocks/>
              <a:stCxn id="293" idx="3"/>
              <a:endCxn id="567" idx="2"/>
            </p:cNvCxnSpPr>
            <p:nvPr/>
          </p:nvCxnSpPr>
          <p:spPr>
            <a:xfrm>
              <a:off x="3538434" y="9280753"/>
              <a:ext cx="516980" cy="909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7" name="TextBox 416">
                  <a:extLst>
                    <a:ext uri="{FF2B5EF4-FFF2-40B4-BE49-F238E27FC236}">
                      <a16:creationId xmlns:a16="http://schemas.microsoft.com/office/drawing/2014/main" id="{A4753A6E-8E06-420E-81DA-0B89771098C5}"/>
                    </a:ext>
                  </a:extLst>
                </p:cNvPr>
                <p:cNvSpPr txBox="1"/>
                <p:nvPr/>
              </p:nvSpPr>
              <p:spPr>
                <a:xfrm>
                  <a:off x="6633189" y="8154851"/>
                  <a:ext cx="127329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7" name="TextBox 416">
                  <a:extLst>
                    <a:ext uri="{FF2B5EF4-FFF2-40B4-BE49-F238E27FC236}">
                      <a16:creationId xmlns:a16="http://schemas.microsoft.com/office/drawing/2014/main" id="{A4753A6E-8E06-420E-81DA-0B8977109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3189" y="8154851"/>
                  <a:ext cx="1273297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8" name="TextBox 417">
                  <a:extLst>
                    <a:ext uri="{FF2B5EF4-FFF2-40B4-BE49-F238E27FC236}">
                      <a16:creationId xmlns:a16="http://schemas.microsoft.com/office/drawing/2014/main" id="{6DCDA67D-6455-488C-AADB-55E6B425B8B6}"/>
                    </a:ext>
                  </a:extLst>
                </p:cNvPr>
                <p:cNvSpPr txBox="1"/>
                <p:nvPr/>
              </p:nvSpPr>
              <p:spPr>
                <a:xfrm>
                  <a:off x="4928717" y="9376616"/>
                  <a:ext cx="92211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8" name="TextBox 417">
                  <a:extLst>
                    <a:ext uri="{FF2B5EF4-FFF2-40B4-BE49-F238E27FC236}">
                      <a16:creationId xmlns:a16="http://schemas.microsoft.com/office/drawing/2014/main" id="{6DCDA67D-6455-488C-AADB-55E6B425B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8717" y="9376616"/>
                  <a:ext cx="922112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07C65C03-FE6A-499C-A26F-DB17B2A05121}"/>
                </a:ext>
              </a:extLst>
            </p:cNvPr>
            <p:cNvSpPr txBox="1"/>
            <p:nvPr/>
          </p:nvSpPr>
          <p:spPr>
            <a:xfrm>
              <a:off x="2505517" y="10166455"/>
              <a:ext cx="7104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true</a:t>
              </a:r>
            </a:p>
          </p:txBody>
        </p:sp>
        <p:sp>
          <p:nvSpPr>
            <p:cNvPr id="458" name="Flowchart: Connector 457">
              <a:extLst>
                <a:ext uri="{FF2B5EF4-FFF2-40B4-BE49-F238E27FC236}">
                  <a16:creationId xmlns:a16="http://schemas.microsoft.com/office/drawing/2014/main" id="{2950DBBE-E783-4B85-8500-F719E43481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81001" y="15169901"/>
              <a:ext cx="649035" cy="602214"/>
            </a:xfrm>
            <a:prstGeom prst="flowChartConnector">
              <a:avLst/>
            </a:prstGeom>
            <a:noFill/>
            <a:ln w="57150">
              <a:solidFill>
                <a:srgbClr val="5B9BD5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60" name="Straight Arrow Connector 459">
              <a:extLst>
                <a:ext uri="{FF2B5EF4-FFF2-40B4-BE49-F238E27FC236}">
                  <a16:creationId xmlns:a16="http://schemas.microsoft.com/office/drawing/2014/main" id="{640AE739-C815-4752-ADC4-254C33C2F096}"/>
                </a:ext>
              </a:extLst>
            </p:cNvPr>
            <p:cNvCxnSpPr>
              <a:cxnSpLocks/>
              <a:stCxn id="216" idx="2"/>
              <a:endCxn id="458" idx="0"/>
            </p:cNvCxnSpPr>
            <p:nvPr/>
          </p:nvCxnSpPr>
          <p:spPr>
            <a:xfrm flipH="1">
              <a:off x="3705519" y="14145664"/>
              <a:ext cx="2641" cy="102423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CFE6E85F-ADA1-46E9-9ABC-BCE21A4FA55C}"/>
                </a:ext>
              </a:extLst>
            </p:cNvPr>
            <p:cNvCxnSpPr>
              <a:cxnSpLocks/>
              <a:stCxn id="458" idx="6"/>
              <a:endCxn id="218" idx="1"/>
            </p:cNvCxnSpPr>
            <p:nvPr/>
          </p:nvCxnSpPr>
          <p:spPr>
            <a:xfrm>
              <a:off x="4030036" y="15471008"/>
              <a:ext cx="141715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Connector: Elbow 477">
              <a:extLst>
                <a:ext uri="{FF2B5EF4-FFF2-40B4-BE49-F238E27FC236}">
                  <a16:creationId xmlns:a16="http://schemas.microsoft.com/office/drawing/2014/main" id="{795899B7-2DDD-49BE-AC8E-B990681F017A}"/>
                </a:ext>
              </a:extLst>
            </p:cNvPr>
            <p:cNvCxnSpPr>
              <a:cxnSpLocks/>
              <a:endCxn id="523" idx="0"/>
            </p:cNvCxnSpPr>
            <p:nvPr/>
          </p:nvCxnSpPr>
          <p:spPr>
            <a:xfrm rot="5400000">
              <a:off x="6337579" y="18657892"/>
              <a:ext cx="477696" cy="6351"/>
            </a:xfrm>
            <a:prstGeom prst="bentConnector3">
              <a:avLst>
                <a:gd name="adj1" fmla="val 50000"/>
              </a:avLst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F9F57193-F83E-4308-A0E4-9BAA7BB768A7}"/>
                </a:ext>
              </a:extLst>
            </p:cNvPr>
            <p:cNvSpPr txBox="1"/>
            <p:nvPr/>
          </p:nvSpPr>
          <p:spPr>
            <a:xfrm>
              <a:off x="850954" y="6083349"/>
              <a:ext cx="36541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Decide whether or not to do instanton calculation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7372C15E-28AE-4B11-99C0-4475C1F6F745}"/>
                </a:ext>
              </a:extLst>
            </p:cNvPr>
            <p:cNvSpPr txBox="1"/>
            <p:nvPr/>
          </p:nvSpPr>
          <p:spPr>
            <a:xfrm>
              <a:off x="6707971" y="12093403"/>
              <a:ext cx="5944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yes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6D815314-FC77-4500-904D-A549B40AA027}"/>
                </a:ext>
              </a:extLst>
            </p:cNvPr>
            <p:cNvSpPr txBox="1"/>
            <p:nvPr/>
          </p:nvSpPr>
          <p:spPr>
            <a:xfrm>
              <a:off x="6701455" y="10094270"/>
              <a:ext cx="508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no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81E6AF80-BCF4-4E14-AE60-75C04AD01513}"/>
                </a:ext>
              </a:extLst>
            </p:cNvPr>
            <p:cNvSpPr txBox="1"/>
            <p:nvPr/>
          </p:nvSpPr>
          <p:spPr>
            <a:xfrm>
              <a:off x="7688959" y="17163237"/>
              <a:ext cx="8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small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317C30AA-37A7-4D00-BEF4-87F1ED2D9253}"/>
                </a:ext>
              </a:extLst>
            </p:cNvPr>
            <p:cNvSpPr txBox="1"/>
            <p:nvPr/>
          </p:nvSpPr>
          <p:spPr>
            <a:xfrm>
              <a:off x="6720419" y="18415870"/>
              <a:ext cx="801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large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F3D4CD5A-3AC2-477B-AA13-E5709025D29F}"/>
                    </a:ext>
                  </a:extLst>
                </p:cNvPr>
                <p:cNvSpPr txBox="1"/>
                <p:nvPr/>
              </p:nvSpPr>
              <p:spPr>
                <a:xfrm>
                  <a:off x="2815987" y="14426949"/>
                  <a:ext cx="9097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&lt;55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F3D4CD5A-3AC2-477B-AA13-E5709025D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5987" y="14426949"/>
                  <a:ext cx="909736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3" name="Flowchart: Connector 522">
              <a:extLst>
                <a:ext uri="{FF2B5EF4-FFF2-40B4-BE49-F238E27FC236}">
                  <a16:creationId xmlns:a16="http://schemas.microsoft.com/office/drawing/2014/main" id="{0407235A-1DF2-422D-9B9B-EDC31736D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8733" y="18899915"/>
              <a:ext cx="649035" cy="602214"/>
            </a:xfrm>
            <a:prstGeom prst="flowChartConnector">
              <a:avLst/>
            </a:prstGeom>
            <a:noFill/>
            <a:ln w="57150">
              <a:solidFill>
                <a:srgbClr val="5B9BD5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525" name="Connector: Elbow 524">
              <a:extLst>
                <a:ext uri="{FF2B5EF4-FFF2-40B4-BE49-F238E27FC236}">
                  <a16:creationId xmlns:a16="http://schemas.microsoft.com/office/drawing/2014/main" id="{B337226B-252C-4E45-AE58-EB334DB3CBAC}"/>
                </a:ext>
              </a:extLst>
            </p:cNvPr>
            <p:cNvCxnSpPr>
              <a:cxnSpLocks/>
              <a:stCxn id="216" idx="1"/>
              <a:endCxn id="523" idx="2"/>
            </p:cNvCxnSpPr>
            <p:nvPr/>
          </p:nvCxnSpPr>
          <p:spPr>
            <a:xfrm rot="10800000" flipH="1" flipV="1">
              <a:off x="2567339" y="13407954"/>
              <a:ext cx="3681394" cy="5793067"/>
            </a:xfrm>
            <a:prstGeom prst="bentConnector3">
              <a:avLst>
                <a:gd name="adj1" fmla="val -31500"/>
              </a:avLst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6EBAA842-4DC2-4568-9478-9185FD045978}"/>
                </a:ext>
              </a:extLst>
            </p:cNvPr>
            <p:cNvCxnSpPr>
              <a:cxnSpLocks/>
              <a:stCxn id="282" idx="0"/>
              <a:endCxn id="213" idx="2"/>
            </p:cNvCxnSpPr>
            <p:nvPr/>
          </p:nvCxnSpPr>
          <p:spPr>
            <a:xfrm flipH="1" flipV="1">
              <a:off x="6576382" y="8026301"/>
              <a:ext cx="3831" cy="52336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Connector: Elbow 553">
              <a:extLst>
                <a:ext uri="{FF2B5EF4-FFF2-40B4-BE49-F238E27FC236}">
                  <a16:creationId xmlns:a16="http://schemas.microsoft.com/office/drawing/2014/main" id="{5356C841-290F-48BE-91D3-542B84A06D03}"/>
                </a:ext>
              </a:extLst>
            </p:cNvPr>
            <p:cNvCxnSpPr>
              <a:cxnSpLocks/>
              <a:stCxn id="264" idx="3"/>
              <a:endCxn id="608" idx="4"/>
            </p:cNvCxnSpPr>
            <p:nvPr/>
          </p:nvCxnSpPr>
          <p:spPr>
            <a:xfrm flipV="1">
              <a:off x="7725203" y="9588480"/>
              <a:ext cx="901058" cy="8089681"/>
            </a:xfrm>
            <a:prstGeom prst="bentConnector2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1BCDC359-1281-4B63-BB31-22E31A4A1F23}"/>
                </a:ext>
              </a:extLst>
            </p:cNvPr>
            <p:cNvSpPr/>
            <p:nvPr/>
          </p:nvSpPr>
          <p:spPr>
            <a:xfrm>
              <a:off x="4055414" y="8882935"/>
              <a:ext cx="813826" cy="81382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/>
                <a:t>A</a:t>
              </a:r>
            </a:p>
          </p:txBody>
        </p: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6559041B-F518-4094-A5B8-296ACE2FF324}"/>
                </a:ext>
              </a:extLst>
            </p:cNvPr>
            <p:cNvSpPr txBox="1"/>
            <p:nvPr/>
          </p:nvSpPr>
          <p:spPr>
            <a:xfrm>
              <a:off x="3738170" y="8013154"/>
              <a:ext cx="15046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No viable tunneling</a:t>
              </a:r>
            </a:p>
          </p:txBody>
        </p:sp>
        <p:sp>
          <p:nvSpPr>
            <p:cNvPr id="576" name="TextBox 575">
              <a:extLst>
                <a:ext uri="{FF2B5EF4-FFF2-40B4-BE49-F238E27FC236}">
                  <a16:creationId xmlns:a16="http://schemas.microsoft.com/office/drawing/2014/main" id="{33739DE2-003E-4069-962F-39ADA368D7BC}"/>
                </a:ext>
              </a:extLst>
            </p:cNvPr>
            <p:cNvSpPr txBox="1"/>
            <p:nvPr/>
          </p:nvSpPr>
          <p:spPr>
            <a:xfrm>
              <a:off x="7661432" y="18325519"/>
              <a:ext cx="15046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Tunneling is viable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59B4406C-6865-4804-AD48-DBC7B57D1A05}"/>
                    </a:ext>
                  </a:extLst>
                </p:cNvPr>
                <p:cNvSpPr txBox="1"/>
                <p:nvPr/>
              </p:nvSpPr>
              <p:spPr>
                <a:xfrm>
                  <a:off x="1611068" y="12878329"/>
                  <a:ext cx="9097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55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59B4406C-6865-4804-AD48-DBC7B57D1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1068" y="12878329"/>
                  <a:ext cx="909736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8" name="Flowchart: Connector 607">
              <a:extLst>
                <a:ext uri="{FF2B5EF4-FFF2-40B4-BE49-F238E27FC236}">
                  <a16:creationId xmlns:a16="http://schemas.microsoft.com/office/drawing/2014/main" id="{640EC27F-748F-4CE5-8BBF-B675A104A6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01743" y="8986266"/>
              <a:ext cx="649035" cy="602214"/>
            </a:xfrm>
            <a:prstGeom prst="flowChartConnector">
              <a:avLst/>
            </a:prstGeom>
            <a:noFill/>
            <a:ln w="57150">
              <a:solidFill>
                <a:srgbClr val="5B9BD5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10" name="Straight Arrow Connector 609">
              <a:extLst>
                <a:ext uri="{FF2B5EF4-FFF2-40B4-BE49-F238E27FC236}">
                  <a16:creationId xmlns:a16="http://schemas.microsoft.com/office/drawing/2014/main" id="{4782B9C8-D671-416D-A9EE-A34D1215916F}"/>
                </a:ext>
              </a:extLst>
            </p:cNvPr>
            <p:cNvCxnSpPr>
              <a:cxnSpLocks/>
              <a:stCxn id="608" idx="2"/>
              <a:endCxn id="282" idx="3"/>
            </p:cNvCxnSpPr>
            <p:nvPr/>
          </p:nvCxnSpPr>
          <p:spPr>
            <a:xfrm flipH="1">
              <a:off x="7721034" y="9287373"/>
              <a:ext cx="580709" cy="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2194E7A7-7AAF-41F1-9586-6DC77A5EC0DB}"/>
                    </a:ext>
                  </a:extLst>
                </p:cNvPr>
                <p:cNvSpPr txBox="1"/>
                <p:nvPr/>
              </p:nvSpPr>
              <p:spPr>
                <a:xfrm>
                  <a:off x="7896702" y="19246888"/>
                  <a:ext cx="1034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←0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2194E7A7-7AAF-41F1-9586-6DC77A5EC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6702" y="19246888"/>
                  <a:ext cx="1034129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90" name="Connector: Elbow 789">
            <a:extLst>
              <a:ext uri="{FF2B5EF4-FFF2-40B4-BE49-F238E27FC236}">
                <a16:creationId xmlns:a16="http://schemas.microsoft.com/office/drawing/2014/main" id="{A0606CBD-A729-4D46-9C70-0B8D85338708}"/>
              </a:ext>
            </a:extLst>
          </p:cNvPr>
          <p:cNvCxnSpPr>
            <a:cxnSpLocks/>
            <a:stCxn id="717" idx="1"/>
            <a:endCxn id="191" idx="6"/>
          </p:cNvCxnSpPr>
          <p:nvPr/>
        </p:nvCxnSpPr>
        <p:spPr>
          <a:xfrm rot="10800000" flipV="1">
            <a:off x="9052678" y="1736691"/>
            <a:ext cx="2754660" cy="738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3" name="TextBox 792">
            <a:extLst>
              <a:ext uri="{FF2B5EF4-FFF2-40B4-BE49-F238E27FC236}">
                <a16:creationId xmlns:a16="http://schemas.microsoft.com/office/drawing/2014/main" id="{55D5CC1A-216D-4908-8C43-0492D2EF931C}"/>
              </a:ext>
            </a:extLst>
          </p:cNvPr>
          <p:cNvSpPr txBox="1"/>
          <p:nvPr/>
        </p:nvSpPr>
        <p:spPr>
          <a:xfrm>
            <a:off x="13259322" y="4876977"/>
            <a:ext cx="3654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= 0 to N</a:t>
            </a:r>
          </a:p>
        </p:txBody>
      </p:sp>
      <p:cxnSp>
        <p:nvCxnSpPr>
          <p:cNvPr id="799" name="Straight Arrow Connector 798">
            <a:extLst>
              <a:ext uri="{FF2B5EF4-FFF2-40B4-BE49-F238E27FC236}">
                <a16:creationId xmlns:a16="http://schemas.microsoft.com/office/drawing/2014/main" id="{43612FB4-CA40-4F6F-A57B-586F0146469A}"/>
              </a:ext>
            </a:extLst>
          </p:cNvPr>
          <p:cNvCxnSpPr>
            <a:cxnSpLocks/>
            <a:stCxn id="823" idx="0"/>
            <a:endCxn id="735" idx="2"/>
          </p:cNvCxnSpPr>
          <p:nvPr/>
        </p:nvCxnSpPr>
        <p:spPr>
          <a:xfrm flipH="1" flipV="1">
            <a:off x="12947437" y="4686898"/>
            <a:ext cx="13543" cy="14643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: Elbow 803">
            <a:extLst>
              <a:ext uri="{FF2B5EF4-FFF2-40B4-BE49-F238E27FC236}">
                <a16:creationId xmlns:a16="http://schemas.microsoft.com/office/drawing/2014/main" id="{8A46B114-6E13-4A35-95BB-C5D3FD5A4802}"/>
              </a:ext>
            </a:extLst>
          </p:cNvPr>
          <p:cNvCxnSpPr>
            <a:cxnSpLocks/>
            <a:stCxn id="283" idx="0"/>
            <a:endCxn id="608" idx="6"/>
          </p:cNvCxnSpPr>
          <p:nvPr/>
        </p:nvCxnSpPr>
        <p:spPr>
          <a:xfrm rot="16200000" flipV="1">
            <a:off x="9845658" y="8392493"/>
            <a:ext cx="629156" cy="2418915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" name="TextBox 819">
            <a:extLst>
              <a:ext uri="{FF2B5EF4-FFF2-40B4-BE49-F238E27FC236}">
                <a16:creationId xmlns:a16="http://schemas.microsoft.com/office/drawing/2014/main" id="{DC766E36-F691-4AF0-898A-767CB4CD6CDC}"/>
              </a:ext>
            </a:extLst>
          </p:cNvPr>
          <p:cNvSpPr txBox="1"/>
          <p:nvPr/>
        </p:nvSpPr>
        <p:spPr>
          <a:xfrm>
            <a:off x="14066153" y="1153139"/>
            <a:ext cx="594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</a:p>
        </p:txBody>
      </p:sp>
      <p:sp>
        <p:nvSpPr>
          <p:cNvPr id="821" name="Oval 820">
            <a:extLst>
              <a:ext uri="{FF2B5EF4-FFF2-40B4-BE49-F238E27FC236}">
                <a16:creationId xmlns:a16="http://schemas.microsoft.com/office/drawing/2014/main" id="{180615AA-B1F4-42DE-97CD-7922979EAB92}"/>
              </a:ext>
            </a:extLst>
          </p:cNvPr>
          <p:cNvSpPr/>
          <p:nvPr/>
        </p:nvSpPr>
        <p:spPr>
          <a:xfrm>
            <a:off x="11010690" y="6045909"/>
            <a:ext cx="813826" cy="8138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A</a:t>
            </a:r>
          </a:p>
        </p:txBody>
      </p:sp>
      <p:sp>
        <p:nvSpPr>
          <p:cNvPr id="823" name="Flowchart: Connector 822">
            <a:extLst>
              <a:ext uri="{FF2B5EF4-FFF2-40B4-BE49-F238E27FC236}">
                <a16:creationId xmlns:a16="http://schemas.microsoft.com/office/drawing/2014/main" id="{38C9FD75-00BE-45DC-BD18-FA568D3980D7}"/>
              </a:ext>
            </a:extLst>
          </p:cNvPr>
          <p:cNvSpPr>
            <a:spLocks noChangeAspect="1"/>
          </p:cNvSpPr>
          <p:nvPr/>
        </p:nvSpPr>
        <p:spPr>
          <a:xfrm>
            <a:off x="12636462" y="6151256"/>
            <a:ext cx="649035" cy="602214"/>
          </a:xfrm>
          <a:prstGeom prst="flowChartConnector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827" name="Straight Arrow Connector 826">
            <a:extLst>
              <a:ext uri="{FF2B5EF4-FFF2-40B4-BE49-F238E27FC236}">
                <a16:creationId xmlns:a16="http://schemas.microsoft.com/office/drawing/2014/main" id="{D923B255-6C27-44B1-AE3A-67BEAA04072F}"/>
              </a:ext>
            </a:extLst>
          </p:cNvPr>
          <p:cNvCxnSpPr>
            <a:cxnSpLocks/>
            <a:stCxn id="821" idx="6"/>
            <a:endCxn id="823" idx="2"/>
          </p:cNvCxnSpPr>
          <p:nvPr/>
        </p:nvCxnSpPr>
        <p:spPr>
          <a:xfrm flipV="1">
            <a:off x="11824516" y="6452363"/>
            <a:ext cx="811946" cy="4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1" name="&quot;Not Allowed&quot; Symbol 830">
            <a:extLst>
              <a:ext uri="{FF2B5EF4-FFF2-40B4-BE49-F238E27FC236}">
                <a16:creationId xmlns:a16="http://schemas.microsoft.com/office/drawing/2014/main" id="{7A91A591-D546-451D-BF45-2F2DC07D2C1D}"/>
              </a:ext>
            </a:extLst>
          </p:cNvPr>
          <p:cNvSpPr/>
          <p:nvPr/>
        </p:nvSpPr>
        <p:spPr>
          <a:xfrm>
            <a:off x="18117308" y="1325678"/>
            <a:ext cx="822026" cy="822026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2" name="TextBox 831">
            <a:extLst>
              <a:ext uri="{FF2B5EF4-FFF2-40B4-BE49-F238E27FC236}">
                <a16:creationId xmlns:a16="http://schemas.microsoft.com/office/drawing/2014/main" id="{D4A319FC-D794-4BEC-A3FF-6ADF5D6BA4A8}"/>
              </a:ext>
            </a:extLst>
          </p:cNvPr>
          <p:cNvSpPr txBox="1"/>
          <p:nvPr/>
        </p:nvSpPr>
        <p:spPr>
          <a:xfrm>
            <a:off x="17890137" y="818147"/>
            <a:ext cx="131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Continue</a:t>
            </a:r>
          </a:p>
        </p:txBody>
      </p:sp>
      <p:cxnSp>
        <p:nvCxnSpPr>
          <p:cNvPr id="833" name="Straight Arrow Connector 832">
            <a:extLst>
              <a:ext uri="{FF2B5EF4-FFF2-40B4-BE49-F238E27FC236}">
                <a16:creationId xmlns:a16="http://schemas.microsoft.com/office/drawing/2014/main" id="{EB40BA8E-CB0B-4A91-BEC6-1860121016E1}"/>
              </a:ext>
            </a:extLst>
          </p:cNvPr>
          <p:cNvCxnSpPr>
            <a:cxnSpLocks/>
            <a:stCxn id="718" idx="3"/>
            <a:endCxn id="831" idx="2"/>
          </p:cNvCxnSpPr>
          <p:nvPr/>
        </p:nvCxnSpPr>
        <p:spPr>
          <a:xfrm>
            <a:off x="17021745" y="1722374"/>
            <a:ext cx="1095563" cy="143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6" name="TextBox 835">
                <a:extLst>
                  <a:ext uri="{FF2B5EF4-FFF2-40B4-BE49-F238E27FC236}">
                    <a16:creationId xmlns:a16="http://schemas.microsoft.com/office/drawing/2014/main" id="{EC96977F-591A-4DDE-880A-6B8A27E2680F}"/>
                  </a:ext>
                </a:extLst>
              </p:cNvPr>
              <p:cNvSpPr txBox="1"/>
              <p:nvPr/>
            </p:nvSpPr>
            <p:spPr>
              <a:xfrm>
                <a:off x="15924644" y="2589911"/>
                <a:ext cx="9097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36" name="TextBox 835">
                <a:extLst>
                  <a:ext uri="{FF2B5EF4-FFF2-40B4-BE49-F238E27FC236}">
                    <a16:creationId xmlns:a16="http://schemas.microsoft.com/office/drawing/2014/main" id="{EC96977F-591A-4DDE-880A-6B8A27E26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4644" y="2589911"/>
                <a:ext cx="909736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7" name="TextBox 836">
                <a:extLst>
                  <a:ext uri="{FF2B5EF4-FFF2-40B4-BE49-F238E27FC236}">
                    <a16:creationId xmlns:a16="http://schemas.microsoft.com/office/drawing/2014/main" id="{8C412C65-68EA-428F-BC57-FD19E8D847EF}"/>
                  </a:ext>
                </a:extLst>
              </p:cNvPr>
              <p:cNvSpPr txBox="1"/>
              <p:nvPr/>
            </p:nvSpPr>
            <p:spPr>
              <a:xfrm>
                <a:off x="17046035" y="1861879"/>
                <a:ext cx="9097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37" name="TextBox 836">
                <a:extLst>
                  <a:ext uri="{FF2B5EF4-FFF2-40B4-BE49-F238E27FC236}">
                    <a16:creationId xmlns:a16="http://schemas.microsoft.com/office/drawing/2014/main" id="{8C412C65-68EA-428F-BC57-FD19E8D84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6035" y="1861879"/>
                <a:ext cx="909736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8" name="Straight Arrow Connector 837">
            <a:extLst>
              <a:ext uri="{FF2B5EF4-FFF2-40B4-BE49-F238E27FC236}">
                <a16:creationId xmlns:a16="http://schemas.microsoft.com/office/drawing/2014/main" id="{E40BB694-B5B1-4823-A7F3-AF41F86C4E19}"/>
              </a:ext>
            </a:extLst>
          </p:cNvPr>
          <p:cNvCxnSpPr>
            <a:cxnSpLocks/>
            <a:stCxn id="718" idx="2"/>
          </p:cNvCxnSpPr>
          <p:nvPr/>
        </p:nvCxnSpPr>
        <p:spPr>
          <a:xfrm>
            <a:off x="15881647" y="2460083"/>
            <a:ext cx="0" cy="7338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2" name="Group 971">
            <a:extLst>
              <a:ext uri="{FF2B5EF4-FFF2-40B4-BE49-F238E27FC236}">
                <a16:creationId xmlns:a16="http://schemas.microsoft.com/office/drawing/2014/main" id="{AF2123A8-F4BE-475A-B992-788B224C7457}"/>
              </a:ext>
            </a:extLst>
          </p:cNvPr>
          <p:cNvGrpSpPr/>
          <p:nvPr/>
        </p:nvGrpSpPr>
        <p:grpSpPr>
          <a:xfrm>
            <a:off x="681205" y="665007"/>
            <a:ext cx="10058839" cy="4800463"/>
            <a:chOff x="681205" y="665007"/>
            <a:chExt cx="10058839" cy="4800463"/>
          </a:xfrm>
        </p:grpSpPr>
        <p:sp>
          <p:nvSpPr>
            <p:cNvPr id="772" name="Flowchart: Process 771">
              <a:extLst>
                <a:ext uri="{FF2B5EF4-FFF2-40B4-BE49-F238E27FC236}">
                  <a16:creationId xmlns:a16="http://schemas.microsoft.com/office/drawing/2014/main" id="{863945B7-9F71-4FCF-8A7A-57B244CBE9E6}"/>
                </a:ext>
              </a:extLst>
            </p:cNvPr>
            <p:cNvSpPr/>
            <p:nvPr/>
          </p:nvSpPr>
          <p:spPr>
            <a:xfrm>
              <a:off x="681205" y="665007"/>
              <a:ext cx="10058839" cy="4800463"/>
            </a:xfrm>
            <a:prstGeom prst="flowChartProcess">
              <a:avLst/>
            </a:prstGeom>
            <a:solidFill>
              <a:srgbClr val="7030A0">
                <a:alpha val="1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Flowchart: Preparation 56">
                  <a:extLst>
                    <a:ext uri="{FF2B5EF4-FFF2-40B4-BE49-F238E27FC236}">
                      <a16:creationId xmlns:a16="http://schemas.microsoft.com/office/drawing/2014/main" id="{9CDBFE1F-961E-4F5F-A24D-D16A1AA7796E}"/>
                    </a:ext>
                  </a:extLst>
                </p:cNvPr>
                <p:cNvSpPr/>
                <p:nvPr/>
              </p:nvSpPr>
              <p:spPr>
                <a:xfrm>
                  <a:off x="1101565" y="999856"/>
                  <a:ext cx="2280195" cy="1475420"/>
                </a:xfrm>
                <a:prstGeom prst="flowChartPreparation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(B)</a:t>
                  </a:r>
                  <a:br>
                    <a:rPr lang="en-US" sz="2400" dirty="0">
                      <a:solidFill>
                        <a:schemeClr val="tx1"/>
                      </a:solidFill>
                    </a:rPr>
                  </a:br>
                  <a:r>
                    <a:rPr lang="en-US" sz="2400" dirty="0">
                      <a:solidFill>
                        <a:schemeClr val="tx1"/>
                      </a:solidFill>
                    </a:rPr>
                    <a:t>or nearest peak (A)</a:t>
                  </a:r>
                </a:p>
              </p:txBody>
            </p:sp>
          </mc:Choice>
          <mc:Fallback xmlns="">
            <p:sp>
              <p:nvSpPr>
                <p:cNvPr id="57" name="Flowchart: Preparation 56">
                  <a:extLst>
                    <a:ext uri="{FF2B5EF4-FFF2-40B4-BE49-F238E27FC236}">
                      <a16:creationId xmlns:a16="http://schemas.microsoft.com/office/drawing/2014/main" id="{9CDBFE1F-961E-4F5F-A24D-D16A1AA779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565" y="999856"/>
                  <a:ext cx="2280195" cy="1475420"/>
                </a:xfrm>
                <a:prstGeom prst="flowChartPreparation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Flowchart: Alternate Process 57">
              <a:extLst>
                <a:ext uri="{FF2B5EF4-FFF2-40B4-BE49-F238E27FC236}">
                  <a16:creationId xmlns:a16="http://schemas.microsoft.com/office/drawing/2014/main" id="{2DF01314-B404-4D87-BC1C-741501603776}"/>
                </a:ext>
              </a:extLst>
            </p:cNvPr>
            <p:cNvSpPr/>
            <p:nvPr/>
          </p:nvSpPr>
          <p:spPr>
            <a:xfrm>
              <a:off x="1101565" y="3320139"/>
              <a:ext cx="2280195" cy="147542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Generate potential as GRF</a:t>
              </a:r>
            </a:p>
          </p:txBody>
        </p:sp>
        <p:sp>
          <p:nvSpPr>
            <p:cNvPr id="59" name="Flowchart: Decision 58">
              <a:extLst>
                <a:ext uri="{FF2B5EF4-FFF2-40B4-BE49-F238E27FC236}">
                  <a16:creationId xmlns:a16="http://schemas.microsoft.com/office/drawing/2014/main" id="{794BAF99-25A2-467F-A194-B6CFA7A9D967}"/>
                </a:ext>
              </a:extLst>
            </p:cNvPr>
            <p:cNvSpPr/>
            <p:nvPr/>
          </p:nvSpPr>
          <p:spPr>
            <a:xfrm>
              <a:off x="4214091" y="1012883"/>
              <a:ext cx="2280195" cy="1475420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Is SRA valid?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CCB520E6-A072-4C96-8FBD-50F38A1A459B}"/>
                    </a:ext>
                  </a:extLst>
                </p:cNvPr>
                <p:cNvSpPr/>
                <p:nvPr/>
              </p:nvSpPr>
              <p:spPr>
                <a:xfrm>
                  <a:off x="4197466" y="3320139"/>
                  <a:ext cx="2280195" cy="147542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</a:rPr>
                    <a:t>Look downhill to next minimum: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stop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CCB520E6-A072-4C96-8FBD-50F38A1A45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466" y="3320139"/>
                  <a:ext cx="2280195" cy="1475420"/>
                </a:xfrm>
                <a:prstGeom prst="rect">
                  <a:avLst/>
                </a:prstGeom>
                <a:blipFill>
                  <a:blip r:embed="rId20"/>
                  <a:stretch>
                    <a:fillRect l="-3191" r="-53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085B9BF-499F-4998-9C95-2C1B140F6FA2}"/>
                </a:ext>
              </a:extLst>
            </p:cNvPr>
            <p:cNvCxnSpPr>
              <a:cxnSpLocks/>
              <a:stCxn id="58" idx="0"/>
              <a:endCxn id="57" idx="2"/>
            </p:cNvCxnSpPr>
            <p:nvPr/>
          </p:nvCxnSpPr>
          <p:spPr>
            <a:xfrm flipV="1">
              <a:off x="2241663" y="2475276"/>
              <a:ext cx="0" cy="84486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Flowchart: Decision 65">
                  <a:extLst>
                    <a:ext uri="{FF2B5EF4-FFF2-40B4-BE49-F238E27FC236}">
                      <a16:creationId xmlns:a16="http://schemas.microsoft.com/office/drawing/2014/main" id="{0C1210DA-D5DF-41F4-8DE4-D9C1F44F1C50}"/>
                    </a:ext>
                  </a:extLst>
                </p:cNvPr>
                <p:cNvSpPr/>
                <p:nvPr/>
              </p:nvSpPr>
              <p:spPr>
                <a:xfrm>
                  <a:off x="7490682" y="3320140"/>
                  <a:ext cx="2281642" cy="1475419"/>
                </a:xfrm>
                <a:prstGeom prst="flowChartDecision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≪0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Flowchart: Decision 65">
                  <a:extLst>
                    <a:ext uri="{FF2B5EF4-FFF2-40B4-BE49-F238E27FC236}">
                      <a16:creationId xmlns:a16="http://schemas.microsoft.com/office/drawing/2014/main" id="{0C1210DA-D5DF-41F4-8DE4-D9C1F44F1C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0682" y="3320140"/>
                  <a:ext cx="2281642" cy="1475419"/>
                </a:xfrm>
                <a:prstGeom prst="flowChartDecision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1" name="&quot;Not Allowed&quot; Symbol 190">
              <a:extLst>
                <a:ext uri="{FF2B5EF4-FFF2-40B4-BE49-F238E27FC236}">
                  <a16:creationId xmlns:a16="http://schemas.microsoft.com/office/drawing/2014/main" id="{42ECF71D-42E6-4E1E-AAEA-C4555CA654A7}"/>
                </a:ext>
              </a:extLst>
            </p:cNvPr>
            <p:cNvSpPr/>
            <p:nvPr/>
          </p:nvSpPr>
          <p:spPr>
            <a:xfrm>
              <a:off x="8230652" y="1333066"/>
              <a:ext cx="822026" cy="822026"/>
            </a:xfrm>
            <a:prstGeom prst="noSmoking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31D2AE5C-352A-4F94-B6AB-51F0A963C92C}"/>
                </a:ext>
              </a:extLst>
            </p:cNvPr>
            <p:cNvCxnSpPr>
              <a:cxnSpLocks/>
              <a:stCxn id="57" idx="3"/>
              <a:endCxn id="59" idx="1"/>
            </p:cNvCxnSpPr>
            <p:nvPr/>
          </p:nvCxnSpPr>
          <p:spPr>
            <a:xfrm>
              <a:off x="3381760" y="1737566"/>
              <a:ext cx="832331" cy="1302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34872CDB-E90C-4427-A21A-BDF6F99B203C}"/>
                </a:ext>
              </a:extLst>
            </p:cNvPr>
            <p:cNvCxnSpPr>
              <a:cxnSpLocks/>
              <a:stCxn id="59" idx="3"/>
              <a:endCxn id="191" idx="2"/>
            </p:cNvCxnSpPr>
            <p:nvPr/>
          </p:nvCxnSpPr>
          <p:spPr>
            <a:xfrm flipV="1">
              <a:off x="6494286" y="1744079"/>
              <a:ext cx="1736366" cy="651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88C22F17-4175-46D4-91EC-D23DAC9456BD}"/>
                </a:ext>
              </a:extLst>
            </p:cNvPr>
            <p:cNvCxnSpPr>
              <a:cxnSpLocks/>
              <a:endCxn id="62" idx="0"/>
            </p:cNvCxnSpPr>
            <p:nvPr/>
          </p:nvCxnSpPr>
          <p:spPr>
            <a:xfrm>
              <a:off x="5337564" y="2488303"/>
              <a:ext cx="0" cy="83183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0E32F55F-33C1-434E-B0BB-BF806CFC8542}"/>
                </a:ext>
              </a:extLst>
            </p:cNvPr>
            <p:cNvCxnSpPr>
              <a:cxnSpLocks/>
              <a:stCxn id="62" idx="3"/>
              <a:endCxn id="66" idx="1"/>
            </p:cNvCxnSpPr>
            <p:nvPr/>
          </p:nvCxnSpPr>
          <p:spPr>
            <a:xfrm>
              <a:off x="6477661" y="4057849"/>
              <a:ext cx="1013021" cy="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Arrow Connector 380">
              <a:extLst>
                <a:ext uri="{FF2B5EF4-FFF2-40B4-BE49-F238E27FC236}">
                  <a16:creationId xmlns:a16="http://schemas.microsoft.com/office/drawing/2014/main" id="{81C5FC30-FD6D-47EF-AB26-5845E7508378}"/>
                </a:ext>
              </a:extLst>
            </p:cNvPr>
            <p:cNvCxnSpPr>
              <a:cxnSpLocks/>
              <a:stCxn id="66" idx="0"/>
              <a:endCxn id="191" idx="4"/>
            </p:cNvCxnSpPr>
            <p:nvPr/>
          </p:nvCxnSpPr>
          <p:spPr>
            <a:xfrm flipV="1">
              <a:off x="8631503" y="2155092"/>
              <a:ext cx="10162" cy="116504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01F6928E-F208-41C8-B5E1-98D7397B42F9}"/>
                </a:ext>
              </a:extLst>
            </p:cNvPr>
            <p:cNvSpPr txBox="1"/>
            <p:nvPr/>
          </p:nvSpPr>
          <p:spPr>
            <a:xfrm>
              <a:off x="8716810" y="2760950"/>
              <a:ext cx="7104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true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DF42C459-F850-4F77-9BB5-862CE0C59D6B}"/>
                </a:ext>
              </a:extLst>
            </p:cNvPr>
            <p:cNvSpPr txBox="1"/>
            <p:nvPr/>
          </p:nvSpPr>
          <p:spPr>
            <a:xfrm>
              <a:off x="8677457" y="4896283"/>
              <a:ext cx="7653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false</a:t>
              </a:r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8F39AD6F-6A15-4486-9E45-DD04BA5B1F05}"/>
                </a:ext>
              </a:extLst>
            </p:cNvPr>
            <p:cNvSpPr txBox="1"/>
            <p:nvPr/>
          </p:nvSpPr>
          <p:spPr>
            <a:xfrm>
              <a:off x="5448848" y="2639786"/>
              <a:ext cx="5944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yes</a:t>
              </a:r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0FEBF519-CD56-41B7-A2EA-F646482F6339}"/>
                </a:ext>
              </a:extLst>
            </p:cNvPr>
            <p:cNvSpPr txBox="1"/>
            <p:nvPr/>
          </p:nvSpPr>
          <p:spPr>
            <a:xfrm>
              <a:off x="6775091" y="1219015"/>
              <a:ext cx="5084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TextBox 399">
                  <a:extLst>
                    <a:ext uri="{FF2B5EF4-FFF2-40B4-BE49-F238E27FC236}">
                      <a16:creationId xmlns:a16="http://schemas.microsoft.com/office/drawing/2014/main" id="{885D651B-3AC6-4878-B6DB-F3846AA9D36D}"/>
                    </a:ext>
                  </a:extLst>
                </p:cNvPr>
                <p:cNvSpPr txBox="1"/>
                <p:nvPr/>
              </p:nvSpPr>
              <p:spPr>
                <a:xfrm>
                  <a:off x="2373947" y="2755627"/>
                  <a:ext cx="108606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←0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00" name="TextBox 399">
                  <a:extLst>
                    <a:ext uri="{FF2B5EF4-FFF2-40B4-BE49-F238E27FC236}">
                      <a16:creationId xmlns:a16="http://schemas.microsoft.com/office/drawing/2014/main" id="{885D651B-3AC6-4878-B6DB-F3846AA9D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3947" y="2755627"/>
                  <a:ext cx="1086067" cy="46166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9" name="TextBox 668">
              <a:extLst>
                <a:ext uri="{FF2B5EF4-FFF2-40B4-BE49-F238E27FC236}">
                  <a16:creationId xmlns:a16="http://schemas.microsoft.com/office/drawing/2014/main" id="{6FDB3833-BF27-45A5-BDF2-1B5EE468922F}"/>
                </a:ext>
              </a:extLst>
            </p:cNvPr>
            <p:cNvSpPr txBox="1"/>
            <p:nvPr/>
          </p:nvSpPr>
          <p:spPr>
            <a:xfrm>
              <a:off x="7986855" y="825535"/>
              <a:ext cx="13199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Continue</a:t>
              </a:r>
            </a:p>
          </p:txBody>
        </p:sp>
        <p:sp>
          <p:nvSpPr>
            <p:cNvPr id="843" name="TextBox 842">
              <a:extLst>
                <a:ext uri="{FF2B5EF4-FFF2-40B4-BE49-F238E27FC236}">
                  <a16:creationId xmlns:a16="http://schemas.microsoft.com/office/drawing/2014/main" id="{BE0B4039-74CE-4638-A9C4-C71B109C714D}"/>
                </a:ext>
              </a:extLst>
            </p:cNvPr>
            <p:cNvSpPr txBox="1"/>
            <p:nvPr/>
          </p:nvSpPr>
          <p:spPr>
            <a:xfrm>
              <a:off x="808222" y="4880228"/>
              <a:ext cx="36541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Initialization</a:t>
              </a:r>
            </a:p>
          </p:txBody>
        </p:sp>
      </p:grpSp>
      <p:cxnSp>
        <p:nvCxnSpPr>
          <p:cNvPr id="881" name="Connector: Elbow 880">
            <a:extLst>
              <a:ext uri="{FF2B5EF4-FFF2-40B4-BE49-F238E27FC236}">
                <a16:creationId xmlns:a16="http://schemas.microsoft.com/office/drawing/2014/main" id="{63DCFD33-8E32-43A3-99FE-D15B58B3DAAF}"/>
              </a:ext>
            </a:extLst>
          </p:cNvPr>
          <p:cNvCxnSpPr>
            <a:cxnSpLocks/>
            <a:stCxn id="877" idx="2"/>
            <a:endCxn id="894" idx="0"/>
          </p:cNvCxnSpPr>
          <p:nvPr/>
        </p:nvCxnSpPr>
        <p:spPr>
          <a:xfrm rot="5400000">
            <a:off x="17801373" y="20265453"/>
            <a:ext cx="1552838" cy="754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: Elbow 884">
            <a:extLst>
              <a:ext uri="{FF2B5EF4-FFF2-40B4-BE49-F238E27FC236}">
                <a16:creationId xmlns:a16="http://schemas.microsoft.com/office/drawing/2014/main" id="{B6C9DD36-7831-4FAF-8106-84DB20061B0C}"/>
              </a:ext>
            </a:extLst>
          </p:cNvPr>
          <p:cNvCxnSpPr>
            <a:cxnSpLocks/>
            <a:endCxn id="844" idx="0"/>
          </p:cNvCxnSpPr>
          <p:nvPr/>
        </p:nvCxnSpPr>
        <p:spPr>
          <a:xfrm rot="5400000">
            <a:off x="14160077" y="9209918"/>
            <a:ext cx="5329308" cy="313131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4" name="Flowchart: Connector 893">
            <a:extLst>
              <a:ext uri="{FF2B5EF4-FFF2-40B4-BE49-F238E27FC236}">
                <a16:creationId xmlns:a16="http://schemas.microsoft.com/office/drawing/2014/main" id="{7CB00C84-DBB9-44BD-BD27-0785CEB39913}"/>
              </a:ext>
            </a:extLst>
          </p:cNvPr>
          <p:cNvSpPr>
            <a:spLocks noChangeAspect="1"/>
          </p:cNvSpPr>
          <p:nvPr/>
        </p:nvSpPr>
        <p:spPr>
          <a:xfrm>
            <a:off x="18249500" y="21045645"/>
            <a:ext cx="649035" cy="602214"/>
          </a:xfrm>
          <a:prstGeom prst="flowChartConnector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896" name="Connector: Elbow 895">
            <a:extLst>
              <a:ext uri="{FF2B5EF4-FFF2-40B4-BE49-F238E27FC236}">
                <a16:creationId xmlns:a16="http://schemas.microsoft.com/office/drawing/2014/main" id="{B50B844C-1066-45DF-9779-3631F892E726}"/>
              </a:ext>
            </a:extLst>
          </p:cNvPr>
          <p:cNvCxnSpPr>
            <a:cxnSpLocks/>
            <a:stCxn id="846" idx="2"/>
            <a:endCxn id="894" idx="2"/>
          </p:cNvCxnSpPr>
          <p:nvPr/>
        </p:nvCxnSpPr>
        <p:spPr>
          <a:xfrm rot="16200000" flipH="1">
            <a:off x="15896698" y="18993949"/>
            <a:ext cx="1715181" cy="2990424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1" name="Flowchart: Process 840">
            <a:extLst>
              <a:ext uri="{FF2B5EF4-FFF2-40B4-BE49-F238E27FC236}">
                <a16:creationId xmlns:a16="http://schemas.microsoft.com/office/drawing/2014/main" id="{10FD8C14-BE44-4B1A-B498-BFC59687BE3C}"/>
              </a:ext>
            </a:extLst>
          </p:cNvPr>
          <p:cNvSpPr/>
          <p:nvPr/>
        </p:nvSpPr>
        <p:spPr>
          <a:xfrm>
            <a:off x="13953440" y="12783334"/>
            <a:ext cx="5985953" cy="7232655"/>
          </a:xfrm>
          <a:prstGeom prst="flowChartProcess">
            <a:avLst/>
          </a:prstGeom>
          <a:solidFill>
            <a:srgbClr val="C00000">
              <a:alpha val="1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" name="Flowchart: Decision 843">
            <a:extLst>
              <a:ext uri="{FF2B5EF4-FFF2-40B4-BE49-F238E27FC236}">
                <a16:creationId xmlns:a16="http://schemas.microsoft.com/office/drawing/2014/main" id="{19B2E98A-A126-47DF-AB12-5922A24E5E07}"/>
              </a:ext>
            </a:extLst>
          </p:cNvPr>
          <p:cNvSpPr/>
          <p:nvPr/>
        </p:nvSpPr>
        <p:spPr>
          <a:xfrm>
            <a:off x="14118978" y="13440227"/>
            <a:ext cx="2280196" cy="1475419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Meas. A</a:t>
            </a:r>
          </a:p>
        </p:txBody>
      </p:sp>
      <p:sp>
        <p:nvSpPr>
          <p:cNvPr id="845" name="Flowchart: Decision 844">
            <a:extLst>
              <a:ext uri="{FF2B5EF4-FFF2-40B4-BE49-F238E27FC236}">
                <a16:creationId xmlns:a16="http://schemas.microsoft.com/office/drawing/2014/main" id="{BB6C81E3-64B3-4D79-A4EA-63512B309DBD}"/>
              </a:ext>
            </a:extLst>
          </p:cNvPr>
          <p:cNvSpPr/>
          <p:nvPr/>
        </p:nvSpPr>
        <p:spPr>
          <a:xfrm>
            <a:off x="14118978" y="15766800"/>
            <a:ext cx="2280196" cy="1475419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Hawking Moss</a:t>
            </a:r>
          </a:p>
        </p:txBody>
      </p:sp>
      <p:sp>
        <p:nvSpPr>
          <p:cNvPr id="846" name="Flowchart: Decision 845">
            <a:extLst>
              <a:ext uri="{FF2B5EF4-FFF2-40B4-BE49-F238E27FC236}">
                <a16:creationId xmlns:a16="http://schemas.microsoft.com/office/drawing/2014/main" id="{D804B010-A235-482B-A825-F6933F74D092}"/>
              </a:ext>
            </a:extLst>
          </p:cNvPr>
          <p:cNvSpPr/>
          <p:nvPr/>
        </p:nvSpPr>
        <p:spPr>
          <a:xfrm>
            <a:off x="14118978" y="18156152"/>
            <a:ext cx="2280196" cy="1475419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Fluctuation</a:t>
            </a:r>
          </a:p>
        </p:txBody>
      </p:sp>
      <p:cxnSp>
        <p:nvCxnSpPr>
          <p:cNvPr id="847" name="Straight Arrow Connector 846">
            <a:extLst>
              <a:ext uri="{FF2B5EF4-FFF2-40B4-BE49-F238E27FC236}">
                <a16:creationId xmlns:a16="http://schemas.microsoft.com/office/drawing/2014/main" id="{84C3D598-E08C-46BB-8013-B594DAEFD0DA}"/>
              </a:ext>
            </a:extLst>
          </p:cNvPr>
          <p:cNvCxnSpPr>
            <a:cxnSpLocks/>
            <a:stCxn id="844" idx="2"/>
            <a:endCxn id="845" idx="0"/>
          </p:cNvCxnSpPr>
          <p:nvPr/>
        </p:nvCxnSpPr>
        <p:spPr>
          <a:xfrm>
            <a:off x="15259076" y="14915646"/>
            <a:ext cx="0" cy="8511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Arrow Connector 849">
            <a:extLst>
              <a:ext uri="{FF2B5EF4-FFF2-40B4-BE49-F238E27FC236}">
                <a16:creationId xmlns:a16="http://schemas.microsoft.com/office/drawing/2014/main" id="{AE07B5D8-C0FD-4E8E-9AC3-D53006CF123C}"/>
              </a:ext>
            </a:extLst>
          </p:cNvPr>
          <p:cNvCxnSpPr>
            <a:cxnSpLocks/>
          </p:cNvCxnSpPr>
          <p:nvPr/>
        </p:nvCxnSpPr>
        <p:spPr>
          <a:xfrm>
            <a:off x="15259076" y="17282506"/>
            <a:ext cx="0" cy="98427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Flowchart: Connector 853">
            <a:extLst>
              <a:ext uri="{FF2B5EF4-FFF2-40B4-BE49-F238E27FC236}">
                <a16:creationId xmlns:a16="http://schemas.microsoft.com/office/drawing/2014/main" id="{A4CD40CC-144E-44FA-9BF9-4122A0CA51A2}"/>
              </a:ext>
            </a:extLst>
          </p:cNvPr>
          <p:cNvSpPr>
            <a:spLocks noChangeAspect="1"/>
          </p:cNvSpPr>
          <p:nvPr/>
        </p:nvSpPr>
        <p:spPr>
          <a:xfrm>
            <a:off x="16692938" y="13876829"/>
            <a:ext cx="649035" cy="602214"/>
          </a:xfrm>
          <a:prstGeom prst="flowChartConnector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855" name="Straight Arrow Connector 854">
            <a:extLst>
              <a:ext uri="{FF2B5EF4-FFF2-40B4-BE49-F238E27FC236}">
                <a16:creationId xmlns:a16="http://schemas.microsoft.com/office/drawing/2014/main" id="{FDBC9D5C-3784-489B-9812-466C0558C43C}"/>
              </a:ext>
            </a:extLst>
          </p:cNvPr>
          <p:cNvCxnSpPr>
            <a:cxnSpLocks/>
            <a:stCxn id="844" idx="3"/>
            <a:endCxn id="854" idx="2"/>
          </p:cNvCxnSpPr>
          <p:nvPr/>
        </p:nvCxnSpPr>
        <p:spPr>
          <a:xfrm flipV="1">
            <a:off x="16399174" y="14177936"/>
            <a:ext cx="29376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8" name="Flowchart: Connector 857">
            <a:extLst>
              <a:ext uri="{FF2B5EF4-FFF2-40B4-BE49-F238E27FC236}">
                <a16:creationId xmlns:a16="http://schemas.microsoft.com/office/drawing/2014/main" id="{93D41E48-3071-472D-83F9-81AAB672B9F1}"/>
              </a:ext>
            </a:extLst>
          </p:cNvPr>
          <p:cNvSpPr>
            <a:spLocks noChangeAspect="1"/>
          </p:cNvSpPr>
          <p:nvPr/>
        </p:nvSpPr>
        <p:spPr>
          <a:xfrm>
            <a:off x="16692938" y="16206856"/>
            <a:ext cx="649035" cy="602214"/>
          </a:xfrm>
          <a:prstGeom prst="flowChartConnector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859" name="Straight Arrow Connector 858">
            <a:extLst>
              <a:ext uri="{FF2B5EF4-FFF2-40B4-BE49-F238E27FC236}">
                <a16:creationId xmlns:a16="http://schemas.microsoft.com/office/drawing/2014/main" id="{A0E379C0-E731-4F15-8494-C17A88E901D4}"/>
              </a:ext>
            </a:extLst>
          </p:cNvPr>
          <p:cNvCxnSpPr>
            <a:cxnSpLocks/>
            <a:stCxn id="845" idx="3"/>
            <a:endCxn id="858" idx="2"/>
          </p:cNvCxnSpPr>
          <p:nvPr/>
        </p:nvCxnSpPr>
        <p:spPr>
          <a:xfrm>
            <a:off x="16399174" y="16504510"/>
            <a:ext cx="293764" cy="34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: Elbow 862">
            <a:extLst>
              <a:ext uri="{FF2B5EF4-FFF2-40B4-BE49-F238E27FC236}">
                <a16:creationId xmlns:a16="http://schemas.microsoft.com/office/drawing/2014/main" id="{1DE6910C-3766-424E-8CFF-79EC43C3FD3B}"/>
              </a:ext>
            </a:extLst>
          </p:cNvPr>
          <p:cNvCxnSpPr>
            <a:cxnSpLocks/>
            <a:stCxn id="846" idx="3"/>
            <a:endCxn id="858" idx="4"/>
          </p:cNvCxnSpPr>
          <p:nvPr/>
        </p:nvCxnSpPr>
        <p:spPr>
          <a:xfrm flipV="1">
            <a:off x="16399174" y="16809070"/>
            <a:ext cx="618282" cy="208479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Arrow Connector 866">
            <a:extLst>
              <a:ext uri="{FF2B5EF4-FFF2-40B4-BE49-F238E27FC236}">
                <a16:creationId xmlns:a16="http://schemas.microsoft.com/office/drawing/2014/main" id="{8A408415-15F8-4BD0-8EF6-1D27D3925CB5}"/>
              </a:ext>
            </a:extLst>
          </p:cNvPr>
          <p:cNvCxnSpPr>
            <a:cxnSpLocks/>
            <a:stCxn id="858" idx="0"/>
            <a:endCxn id="854" idx="4"/>
          </p:cNvCxnSpPr>
          <p:nvPr/>
        </p:nvCxnSpPr>
        <p:spPr>
          <a:xfrm flipV="1">
            <a:off x="17017456" y="14479043"/>
            <a:ext cx="0" cy="1727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7" name="Rectangle 876">
            <a:extLst>
              <a:ext uri="{FF2B5EF4-FFF2-40B4-BE49-F238E27FC236}">
                <a16:creationId xmlns:a16="http://schemas.microsoft.com/office/drawing/2014/main" id="{F783CB95-D595-46C9-A051-A09182EBBADC}"/>
              </a:ext>
            </a:extLst>
          </p:cNvPr>
          <p:cNvSpPr/>
          <p:nvPr/>
        </p:nvSpPr>
        <p:spPr>
          <a:xfrm>
            <a:off x="17578010" y="17516423"/>
            <a:ext cx="2007109" cy="1976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Check for topological eternal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inflation</a:t>
            </a:r>
          </a:p>
        </p:txBody>
      </p:sp>
      <p:cxnSp>
        <p:nvCxnSpPr>
          <p:cNvPr id="878" name="Connector: Elbow 877">
            <a:extLst>
              <a:ext uri="{FF2B5EF4-FFF2-40B4-BE49-F238E27FC236}">
                <a16:creationId xmlns:a16="http://schemas.microsoft.com/office/drawing/2014/main" id="{97E5952E-D29A-4D73-B25F-9B1CF954638F}"/>
              </a:ext>
            </a:extLst>
          </p:cNvPr>
          <p:cNvCxnSpPr>
            <a:cxnSpLocks/>
            <a:stCxn id="854" idx="6"/>
            <a:endCxn id="140" idx="0"/>
          </p:cNvCxnSpPr>
          <p:nvPr/>
        </p:nvCxnSpPr>
        <p:spPr>
          <a:xfrm>
            <a:off x="17341973" y="14177936"/>
            <a:ext cx="1251316" cy="536673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Rectangle 900">
            <a:extLst>
              <a:ext uri="{FF2B5EF4-FFF2-40B4-BE49-F238E27FC236}">
                <a16:creationId xmlns:a16="http://schemas.microsoft.com/office/drawing/2014/main" id="{9A982327-BA7D-4074-B56C-8FB3C4AF17D3}"/>
              </a:ext>
            </a:extLst>
          </p:cNvPr>
          <p:cNvSpPr/>
          <p:nvPr/>
        </p:nvSpPr>
        <p:spPr>
          <a:xfrm>
            <a:off x="17323542" y="12818799"/>
            <a:ext cx="254781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Topological eternal</a:t>
            </a:r>
          </a:p>
          <a:p>
            <a:pPr algn="r"/>
            <a:r>
              <a:rPr lang="en-US" sz="2400" dirty="0"/>
              <a:t>inflation</a:t>
            </a:r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4A43CB0F-E3E9-4F99-A072-2A944F2C2F01}"/>
              </a:ext>
            </a:extLst>
          </p:cNvPr>
          <p:cNvSpPr/>
          <p:nvPr/>
        </p:nvSpPr>
        <p:spPr>
          <a:xfrm>
            <a:off x="17281510" y="6593615"/>
            <a:ext cx="2287239" cy="14754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Find regions with stochastic eternal inflation</a:t>
            </a:r>
          </a:p>
        </p:txBody>
      </p:sp>
      <p:sp>
        <p:nvSpPr>
          <p:cNvPr id="904" name="&quot;Not Allowed&quot; Symbol 903">
            <a:extLst>
              <a:ext uri="{FF2B5EF4-FFF2-40B4-BE49-F238E27FC236}">
                <a16:creationId xmlns:a16="http://schemas.microsoft.com/office/drawing/2014/main" id="{1F07F438-5C4A-45E3-B9DB-1CC132ED7D56}"/>
              </a:ext>
            </a:extLst>
          </p:cNvPr>
          <p:cNvSpPr/>
          <p:nvPr/>
        </p:nvSpPr>
        <p:spPr>
          <a:xfrm>
            <a:off x="15628563" y="24482555"/>
            <a:ext cx="822026" cy="822026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08" name="Connector: Elbow 907">
            <a:extLst>
              <a:ext uri="{FF2B5EF4-FFF2-40B4-BE49-F238E27FC236}">
                <a16:creationId xmlns:a16="http://schemas.microsoft.com/office/drawing/2014/main" id="{E7ABACCF-5C14-46CC-9451-5FA688B705AE}"/>
              </a:ext>
            </a:extLst>
          </p:cNvPr>
          <p:cNvCxnSpPr>
            <a:cxnSpLocks/>
            <a:stCxn id="894" idx="4"/>
            <a:endCxn id="918" idx="0"/>
          </p:cNvCxnSpPr>
          <p:nvPr/>
        </p:nvCxnSpPr>
        <p:spPr>
          <a:xfrm rot="5400000">
            <a:off x="18171447" y="22044514"/>
            <a:ext cx="799227" cy="591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8" name="Rectangle 917">
            <a:extLst>
              <a:ext uri="{FF2B5EF4-FFF2-40B4-BE49-F238E27FC236}">
                <a16:creationId xmlns:a16="http://schemas.microsoft.com/office/drawing/2014/main" id="{23916588-BED5-48BE-8088-E82E0B8D7E8E}"/>
              </a:ext>
            </a:extLst>
          </p:cNvPr>
          <p:cNvSpPr/>
          <p:nvPr/>
        </p:nvSpPr>
        <p:spPr>
          <a:xfrm>
            <a:off x="17601298" y="22447086"/>
            <a:ext cx="1933608" cy="14754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Compute observables</a:t>
            </a:r>
          </a:p>
        </p:txBody>
      </p:sp>
      <p:cxnSp>
        <p:nvCxnSpPr>
          <p:cNvPr id="921" name="Connector: Elbow 920">
            <a:extLst>
              <a:ext uri="{FF2B5EF4-FFF2-40B4-BE49-F238E27FC236}">
                <a16:creationId xmlns:a16="http://schemas.microsoft.com/office/drawing/2014/main" id="{C01EBA28-FD96-4C31-92AC-C3E8CEDB3F17}"/>
              </a:ext>
            </a:extLst>
          </p:cNvPr>
          <p:cNvCxnSpPr>
            <a:cxnSpLocks/>
            <a:stCxn id="928" idx="2"/>
            <a:endCxn id="74" idx="3"/>
          </p:cNvCxnSpPr>
          <p:nvPr/>
        </p:nvCxnSpPr>
        <p:spPr>
          <a:xfrm rot="10800000">
            <a:off x="13486529" y="23156031"/>
            <a:ext cx="2243949" cy="188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8" name="Flowchart: Connector 927">
            <a:extLst>
              <a:ext uri="{FF2B5EF4-FFF2-40B4-BE49-F238E27FC236}">
                <a16:creationId xmlns:a16="http://schemas.microsoft.com/office/drawing/2014/main" id="{7896A812-2AC7-40A5-95D4-68B10AE14ADC}"/>
              </a:ext>
            </a:extLst>
          </p:cNvPr>
          <p:cNvSpPr>
            <a:spLocks noChangeAspect="1"/>
          </p:cNvSpPr>
          <p:nvPr/>
        </p:nvSpPr>
        <p:spPr>
          <a:xfrm>
            <a:off x="15730477" y="22856804"/>
            <a:ext cx="649035" cy="602214"/>
          </a:xfrm>
          <a:prstGeom prst="flowChartConnector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29" name="Straight Arrow Connector 928">
            <a:extLst>
              <a:ext uri="{FF2B5EF4-FFF2-40B4-BE49-F238E27FC236}">
                <a16:creationId xmlns:a16="http://schemas.microsoft.com/office/drawing/2014/main" id="{271D523D-13C4-4611-99B6-8253BAAAEA04}"/>
              </a:ext>
            </a:extLst>
          </p:cNvPr>
          <p:cNvCxnSpPr>
            <a:cxnSpLocks/>
            <a:stCxn id="918" idx="1"/>
            <a:endCxn id="928" idx="6"/>
          </p:cNvCxnSpPr>
          <p:nvPr/>
        </p:nvCxnSpPr>
        <p:spPr>
          <a:xfrm flipH="1" flipV="1">
            <a:off x="16379512" y="23157911"/>
            <a:ext cx="1221786" cy="268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: Elbow 931">
            <a:extLst>
              <a:ext uri="{FF2B5EF4-FFF2-40B4-BE49-F238E27FC236}">
                <a16:creationId xmlns:a16="http://schemas.microsoft.com/office/drawing/2014/main" id="{560EA312-CDF6-4467-9982-4AA4490C5095}"/>
              </a:ext>
            </a:extLst>
          </p:cNvPr>
          <p:cNvCxnSpPr>
            <a:cxnSpLocks/>
            <a:stCxn id="904" idx="0"/>
            <a:endCxn id="928" idx="4"/>
          </p:cNvCxnSpPr>
          <p:nvPr/>
        </p:nvCxnSpPr>
        <p:spPr>
          <a:xfrm rot="5400000" flipH="1" flipV="1">
            <a:off x="15535517" y="23963078"/>
            <a:ext cx="1023537" cy="1541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9" name="Rectangle 958">
            <a:extLst>
              <a:ext uri="{FF2B5EF4-FFF2-40B4-BE49-F238E27FC236}">
                <a16:creationId xmlns:a16="http://schemas.microsoft.com/office/drawing/2014/main" id="{9A3633E0-A024-43CD-BD75-5B21B51C924B}"/>
              </a:ext>
            </a:extLst>
          </p:cNvPr>
          <p:cNvSpPr/>
          <p:nvPr/>
        </p:nvSpPr>
        <p:spPr>
          <a:xfrm>
            <a:off x="14035266" y="6007277"/>
            <a:ext cx="240777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Stochastic eternal</a:t>
            </a:r>
          </a:p>
          <a:p>
            <a:r>
              <a:rPr lang="en-US" sz="2400" dirty="0"/>
              <a:t>inflation</a:t>
            </a:r>
          </a:p>
        </p:txBody>
      </p:sp>
      <p:grpSp>
        <p:nvGrpSpPr>
          <p:cNvPr id="970" name="Group 969">
            <a:extLst>
              <a:ext uri="{FF2B5EF4-FFF2-40B4-BE49-F238E27FC236}">
                <a16:creationId xmlns:a16="http://schemas.microsoft.com/office/drawing/2014/main" id="{CD0D9754-37EB-48E2-80F7-C50C1749C466}"/>
              </a:ext>
            </a:extLst>
          </p:cNvPr>
          <p:cNvGrpSpPr/>
          <p:nvPr/>
        </p:nvGrpSpPr>
        <p:grpSpPr>
          <a:xfrm>
            <a:off x="9845408" y="7407860"/>
            <a:ext cx="3788982" cy="12608127"/>
            <a:chOff x="9845408" y="7407860"/>
            <a:chExt cx="3788982" cy="12608127"/>
          </a:xfrm>
        </p:grpSpPr>
        <p:sp>
          <p:nvSpPr>
            <p:cNvPr id="755" name="Flowchart: Process 754">
              <a:extLst>
                <a:ext uri="{FF2B5EF4-FFF2-40B4-BE49-F238E27FC236}">
                  <a16:creationId xmlns:a16="http://schemas.microsoft.com/office/drawing/2014/main" id="{0B241292-3DB0-472C-BAF7-E8279B9B4D04}"/>
                </a:ext>
              </a:extLst>
            </p:cNvPr>
            <p:cNvSpPr/>
            <p:nvPr/>
          </p:nvSpPr>
          <p:spPr>
            <a:xfrm>
              <a:off x="9845408" y="7407860"/>
              <a:ext cx="3613356" cy="12608127"/>
            </a:xfrm>
            <a:prstGeom prst="flowChartProcess">
              <a:avLst/>
            </a:prstGeom>
            <a:solidFill>
              <a:srgbClr val="00B050">
                <a:alpha val="1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8DFA5E1-1811-4252-A05C-368A3680BCCF}"/>
                </a:ext>
              </a:extLst>
            </p:cNvPr>
            <p:cNvSpPr/>
            <p:nvPr/>
          </p:nvSpPr>
          <p:spPr>
            <a:xfrm>
              <a:off x="10249197" y="17001350"/>
              <a:ext cx="2280195" cy="1475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Compute full instanton</a:t>
              </a: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24D329B1-20AD-407D-972C-3018557EF5BA}"/>
                </a:ext>
              </a:extLst>
            </p:cNvPr>
            <p:cNvSpPr/>
            <p:nvPr/>
          </p:nvSpPr>
          <p:spPr>
            <a:xfrm>
              <a:off x="10229595" y="9916529"/>
              <a:ext cx="2280195" cy="1475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Tunnel to neighboring basin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Flowchart: Decision 283">
                  <a:extLst>
                    <a:ext uri="{FF2B5EF4-FFF2-40B4-BE49-F238E27FC236}">
                      <a16:creationId xmlns:a16="http://schemas.microsoft.com/office/drawing/2014/main" id="{1AE6F378-6006-4A74-950B-A29CECCF819E}"/>
                    </a:ext>
                  </a:extLst>
                </p:cNvPr>
                <p:cNvSpPr/>
                <p:nvPr/>
              </p:nvSpPr>
              <p:spPr>
                <a:xfrm>
                  <a:off x="10240690" y="14860016"/>
                  <a:ext cx="2281642" cy="1475419"/>
                </a:xfrm>
                <a:prstGeom prst="flowChartDecision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≪0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4" name="Flowchart: Decision 283">
                  <a:extLst>
                    <a:ext uri="{FF2B5EF4-FFF2-40B4-BE49-F238E27FC236}">
                      <a16:creationId xmlns:a16="http://schemas.microsoft.com/office/drawing/2014/main" id="{1AE6F378-6006-4A74-950B-A29CECCF81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0690" y="14860016"/>
                  <a:ext cx="2281642" cy="1475419"/>
                </a:xfrm>
                <a:prstGeom prst="flowChartDecision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1" name="Straight Arrow Connector 340">
              <a:extLst>
                <a:ext uri="{FF2B5EF4-FFF2-40B4-BE49-F238E27FC236}">
                  <a16:creationId xmlns:a16="http://schemas.microsoft.com/office/drawing/2014/main" id="{9A3CC00E-861F-4811-A351-9595987D9C75}"/>
                </a:ext>
              </a:extLst>
            </p:cNvPr>
            <p:cNvCxnSpPr>
              <a:cxnSpLocks/>
              <a:stCxn id="108" idx="0"/>
              <a:endCxn id="284" idx="2"/>
            </p:cNvCxnSpPr>
            <p:nvPr/>
          </p:nvCxnSpPr>
          <p:spPr>
            <a:xfrm flipH="1" flipV="1">
              <a:off x="11381511" y="16335435"/>
              <a:ext cx="7784" cy="66591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TextBox 398">
                  <a:extLst>
                    <a:ext uri="{FF2B5EF4-FFF2-40B4-BE49-F238E27FC236}">
                      <a16:creationId xmlns:a16="http://schemas.microsoft.com/office/drawing/2014/main" id="{CC5EA673-6168-463A-8FDA-DE03D5E7A726}"/>
                    </a:ext>
                  </a:extLst>
                </p:cNvPr>
                <p:cNvSpPr txBox="1"/>
                <p:nvPr/>
              </p:nvSpPr>
              <p:spPr>
                <a:xfrm>
                  <a:off x="10046591" y="8742828"/>
                  <a:ext cx="16856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99" name="TextBox 398">
                  <a:extLst>
                    <a:ext uri="{FF2B5EF4-FFF2-40B4-BE49-F238E27FC236}">
                      <a16:creationId xmlns:a16="http://schemas.microsoft.com/office/drawing/2014/main" id="{CC5EA673-6168-463A-8FDA-DE03D5E7A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591" y="8742828"/>
                  <a:ext cx="1685654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7" name="Straight Arrow Connector 746">
              <a:extLst>
                <a:ext uri="{FF2B5EF4-FFF2-40B4-BE49-F238E27FC236}">
                  <a16:creationId xmlns:a16="http://schemas.microsoft.com/office/drawing/2014/main" id="{6FE6B7B9-EA4F-4F88-A58C-760DC2291C60}"/>
                </a:ext>
              </a:extLst>
            </p:cNvPr>
            <p:cNvCxnSpPr>
              <a:cxnSpLocks/>
              <a:stCxn id="284" idx="0"/>
              <a:endCxn id="962" idx="2"/>
            </p:cNvCxnSpPr>
            <p:nvPr/>
          </p:nvCxnSpPr>
          <p:spPr>
            <a:xfrm flipH="1" flipV="1">
              <a:off x="11372349" y="14146418"/>
              <a:ext cx="9162" cy="7135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8" name="TextBox 807">
              <a:extLst>
                <a:ext uri="{FF2B5EF4-FFF2-40B4-BE49-F238E27FC236}">
                  <a16:creationId xmlns:a16="http://schemas.microsoft.com/office/drawing/2014/main" id="{E5C4BCA6-D00A-4EB0-BDAA-5A33A560FA03}"/>
                </a:ext>
              </a:extLst>
            </p:cNvPr>
            <p:cNvSpPr txBox="1"/>
            <p:nvPr/>
          </p:nvSpPr>
          <p:spPr>
            <a:xfrm>
              <a:off x="9980285" y="7528942"/>
              <a:ext cx="36541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False vacuum </a:t>
              </a:r>
            </a:p>
            <a:p>
              <a:r>
                <a:rPr lang="en-US" sz="2400" dirty="0"/>
                <a:t>eternal inflation</a:t>
              </a:r>
            </a:p>
          </p:txBody>
        </p:sp>
        <p:sp>
          <p:nvSpPr>
            <p:cNvPr id="962" name="Rectangle 961">
              <a:extLst>
                <a:ext uri="{FF2B5EF4-FFF2-40B4-BE49-F238E27FC236}">
                  <a16:creationId xmlns:a16="http://schemas.microsoft.com/office/drawing/2014/main" id="{6B50E2F8-3A50-4936-8CCD-F0E0E24F5A7E}"/>
                </a:ext>
              </a:extLst>
            </p:cNvPr>
            <p:cNvSpPr/>
            <p:nvPr/>
          </p:nvSpPr>
          <p:spPr>
            <a:xfrm>
              <a:off x="10245152" y="12170034"/>
              <a:ext cx="2254393" cy="19763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Check for </a:t>
              </a:r>
              <a:br>
                <a:rPr lang="en-US" sz="2400" dirty="0">
                  <a:solidFill>
                    <a:schemeClr val="tx1"/>
                  </a:solidFill>
                </a:rPr>
              </a:br>
              <a:r>
                <a:rPr lang="en-US" sz="2400" dirty="0">
                  <a:solidFill>
                    <a:schemeClr val="tx1"/>
                  </a:solidFill>
                </a:rPr>
                <a:t>false vacuum</a:t>
              </a:r>
              <a:br>
                <a:rPr lang="en-US" sz="2400" dirty="0">
                  <a:solidFill>
                    <a:schemeClr val="tx1"/>
                  </a:solidFill>
                </a:rPr>
              </a:br>
              <a:r>
                <a:rPr lang="en-US" sz="2400" dirty="0">
                  <a:solidFill>
                    <a:schemeClr val="tx1"/>
                  </a:solidFill>
                </a:rPr>
                <a:t> eternal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inflation</a:t>
              </a:r>
            </a:p>
          </p:txBody>
        </p:sp>
        <p:cxnSp>
          <p:nvCxnSpPr>
            <p:cNvPr id="964" name="Straight Arrow Connector 963">
              <a:extLst>
                <a:ext uri="{FF2B5EF4-FFF2-40B4-BE49-F238E27FC236}">
                  <a16:creationId xmlns:a16="http://schemas.microsoft.com/office/drawing/2014/main" id="{7615B69C-A136-49EE-A89D-0F38A0F062DD}"/>
                </a:ext>
              </a:extLst>
            </p:cNvPr>
            <p:cNvCxnSpPr>
              <a:cxnSpLocks/>
              <a:stCxn id="962" idx="0"/>
              <a:endCxn id="283" idx="2"/>
            </p:cNvCxnSpPr>
            <p:nvPr/>
          </p:nvCxnSpPr>
          <p:spPr>
            <a:xfrm flipH="1" flipV="1">
              <a:off x="11369693" y="11391949"/>
              <a:ext cx="2656" cy="77808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8" name="Rectangle 967">
            <a:extLst>
              <a:ext uri="{FF2B5EF4-FFF2-40B4-BE49-F238E27FC236}">
                <a16:creationId xmlns:a16="http://schemas.microsoft.com/office/drawing/2014/main" id="{15F9106C-F955-41AC-90FD-8DF5679062A2}"/>
              </a:ext>
            </a:extLst>
          </p:cNvPr>
          <p:cNvSpPr/>
          <p:nvPr/>
        </p:nvSpPr>
        <p:spPr>
          <a:xfrm>
            <a:off x="17793971" y="25361371"/>
            <a:ext cx="20445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Data collection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4F45BF5-9EB4-40C3-849C-84F4480278C7}"/>
              </a:ext>
            </a:extLst>
          </p:cNvPr>
          <p:cNvSpPr/>
          <p:nvPr/>
        </p:nvSpPr>
        <p:spPr>
          <a:xfrm>
            <a:off x="17589734" y="14714609"/>
            <a:ext cx="2007109" cy="1976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Stochastic second derivative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check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3388C07-C634-4389-9B93-2CF4B300DA3D}"/>
              </a:ext>
            </a:extLst>
          </p:cNvPr>
          <p:cNvCxnSpPr>
            <a:cxnSpLocks/>
            <a:stCxn id="140" idx="2"/>
            <a:endCxn id="877" idx="0"/>
          </p:cNvCxnSpPr>
          <p:nvPr/>
        </p:nvCxnSpPr>
        <p:spPr>
          <a:xfrm flipH="1">
            <a:off x="18581565" y="16690993"/>
            <a:ext cx="11724" cy="8254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BF58174C-FB5F-4EC2-B3C9-F73106B6070D}"/>
              </a:ext>
            </a:extLst>
          </p:cNvPr>
          <p:cNvSpPr txBox="1"/>
          <p:nvPr/>
        </p:nvSpPr>
        <p:spPr>
          <a:xfrm>
            <a:off x="16097176" y="13548439"/>
            <a:ext cx="594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9B656DD-5C20-4A1C-A0AD-EBAC4386A01F}"/>
              </a:ext>
            </a:extLst>
          </p:cNvPr>
          <p:cNvSpPr txBox="1"/>
          <p:nvPr/>
        </p:nvSpPr>
        <p:spPr>
          <a:xfrm>
            <a:off x="16062009" y="15864577"/>
            <a:ext cx="594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8A0D6C2-5E98-414C-A51A-6DC6D2D42BB1}"/>
              </a:ext>
            </a:extLst>
          </p:cNvPr>
          <p:cNvSpPr txBox="1"/>
          <p:nvPr/>
        </p:nvSpPr>
        <p:spPr>
          <a:xfrm>
            <a:off x="16097176" y="18199402"/>
            <a:ext cx="594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5EB8C97-1C61-4C23-BC30-9B3D170B9C28}"/>
              </a:ext>
            </a:extLst>
          </p:cNvPr>
          <p:cNvSpPr txBox="1"/>
          <p:nvPr/>
        </p:nvSpPr>
        <p:spPr>
          <a:xfrm>
            <a:off x="15338141" y="17272606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714031E-9293-424D-88B8-103A766E7324}"/>
              </a:ext>
            </a:extLst>
          </p:cNvPr>
          <p:cNvSpPr txBox="1"/>
          <p:nvPr/>
        </p:nvSpPr>
        <p:spPr>
          <a:xfrm>
            <a:off x="15329358" y="14893720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7E288E3-8D5E-4F3B-BB40-FD3913381B8E}"/>
              </a:ext>
            </a:extLst>
          </p:cNvPr>
          <p:cNvSpPr txBox="1"/>
          <p:nvPr/>
        </p:nvSpPr>
        <p:spPr>
          <a:xfrm>
            <a:off x="15338141" y="19539501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1DB28C2-5858-4677-AA9C-06AE41DBABA2}"/>
              </a:ext>
            </a:extLst>
          </p:cNvPr>
          <p:cNvSpPr txBox="1"/>
          <p:nvPr/>
        </p:nvSpPr>
        <p:spPr>
          <a:xfrm>
            <a:off x="12534083" y="15667541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true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FA53636-4DD8-481A-B71E-9DB9B2794B55}"/>
              </a:ext>
            </a:extLst>
          </p:cNvPr>
          <p:cNvSpPr txBox="1"/>
          <p:nvPr/>
        </p:nvSpPr>
        <p:spPr>
          <a:xfrm>
            <a:off x="11469331" y="14341536"/>
            <a:ext cx="765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false</a:t>
            </a:r>
          </a:p>
        </p:txBody>
      </p: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89E9D2A8-661F-45C3-86D5-4AC9B0E3905F}"/>
              </a:ext>
            </a:extLst>
          </p:cNvPr>
          <p:cNvCxnSpPr>
            <a:cxnSpLocks/>
            <a:stCxn id="733" idx="3"/>
            <a:endCxn id="902" idx="0"/>
          </p:cNvCxnSpPr>
          <p:nvPr/>
        </p:nvCxnSpPr>
        <p:spPr>
          <a:xfrm>
            <a:off x="17017635" y="3931668"/>
            <a:ext cx="1407495" cy="266194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67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441</TotalTime>
  <Words>219</Words>
  <Application>Microsoft Office PowerPoint</Application>
  <PresentationFormat>Custom</PresentationFormat>
  <Paragraphs>84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Ross Greenwood</dc:creator>
  <cp:lastModifiedBy>Ross Greenwood</cp:lastModifiedBy>
  <cp:revision>18</cp:revision>
  <dcterms:created xsi:type="dcterms:W3CDTF">2018-01-25T22:29:37Z</dcterms:created>
  <dcterms:modified xsi:type="dcterms:W3CDTF">2018-01-29T19:40:56Z</dcterms:modified>
</cp:coreProperties>
</file>