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6" r:id="rId3"/>
    <p:sldId id="260" r:id="rId4"/>
    <p:sldId id="257" r:id="rId5"/>
    <p:sldId id="259" r:id="rId6"/>
  </p:sldIdLst>
  <p:sldSz cx="138176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8" d="100"/>
          <a:sy n="68" d="100"/>
        </p:scale>
        <p:origin x="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900783-914D-4341-907A-EAA164E16F9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5B4E8317-4425-4925-A5F8-31EA6CF88CD1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en-US" dirty="0"/>
            <a:t>Potentially Observable</a:t>
          </a:r>
        </a:p>
      </dgm:t>
    </dgm:pt>
    <dgm:pt modelId="{289238E8-FCBF-4700-9029-6543F7FEC82F}" type="parTrans" cxnId="{317D93F8-FF6F-4168-AD00-54C827125C19}">
      <dgm:prSet/>
      <dgm:spPr/>
      <dgm:t>
        <a:bodyPr/>
        <a:lstStyle/>
        <a:p>
          <a:endParaRPr lang="en-US"/>
        </a:p>
      </dgm:t>
    </dgm:pt>
    <dgm:pt modelId="{C56042B2-E313-4911-97C2-007BCFB42631}" type="sibTrans" cxnId="{317D93F8-FF6F-4168-AD00-54C827125C19}">
      <dgm:prSet/>
      <dgm:spPr/>
      <dgm:t>
        <a:bodyPr/>
        <a:lstStyle/>
        <a:p>
          <a:endParaRPr lang="en-US"/>
        </a:p>
      </dgm:t>
    </dgm:pt>
    <dgm:pt modelId="{EDB7C7DF-DF34-4639-B465-6D4CD942AA6F}">
      <dgm:prSet phldrT="[Text]"/>
      <dgm:spPr>
        <a:solidFill>
          <a:srgbClr val="7030A0">
            <a:alpha val="50000"/>
          </a:srgbClr>
        </a:solidFill>
      </dgm:spPr>
      <dgm:t>
        <a:bodyPr/>
        <a:lstStyle/>
        <a:p>
          <a:r>
            <a:rPr lang="en-US" dirty="0"/>
            <a:t>Eternal</a:t>
          </a:r>
        </a:p>
      </dgm:t>
    </dgm:pt>
    <dgm:pt modelId="{A352D033-DF70-46A5-9F0F-28C587D4E100}" type="parTrans" cxnId="{3B201CAE-11A3-4385-BB1A-9950DD594770}">
      <dgm:prSet/>
      <dgm:spPr/>
      <dgm:t>
        <a:bodyPr/>
        <a:lstStyle/>
        <a:p>
          <a:endParaRPr lang="en-US"/>
        </a:p>
      </dgm:t>
    </dgm:pt>
    <dgm:pt modelId="{8F6EA3CC-61AB-4845-BEE0-426F4831CB27}" type="sibTrans" cxnId="{3B201CAE-11A3-4385-BB1A-9950DD594770}">
      <dgm:prSet/>
      <dgm:spPr/>
      <dgm:t>
        <a:bodyPr/>
        <a:lstStyle/>
        <a:p>
          <a:endParaRPr lang="en-US"/>
        </a:p>
      </dgm:t>
    </dgm:pt>
    <dgm:pt modelId="{42261BE2-1CC7-4A5D-B0B0-C1153469752B}" type="pres">
      <dgm:prSet presAssocID="{7E900783-914D-4341-907A-EAA164E16F99}" presName="compositeShape" presStyleCnt="0">
        <dgm:presLayoutVars>
          <dgm:chMax val="7"/>
          <dgm:dir/>
          <dgm:resizeHandles val="exact"/>
        </dgm:presLayoutVars>
      </dgm:prSet>
      <dgm:spPr/>
    </dgm:pt>
    <dgm:pt modelId="{F0034EBE-0355-402C-B820-446F4411A5EA}" type="pres">
      <dgm:prSet presAssocID="{5B4E8317-4425-4925-A5F8-31EA6CF88CD1}" presName="circ1" presStyleLbl="vennNode1" presStyleIdx="0" presStyleCnt="2"/>
      <dgm:spPr/>
    </dgm:pt>
    <dgm:pt modelId="{ED0A0DDF-0B1C-4870-9701-63445258FB63}" type="pres">
      <dgm:prSet presAssocID="{5B4E8317-4425-4925-A5F8-31EA6CF88CD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37575CF-62C6-489F-BC96-617F10245A41}" type="pres">
      <dgm:prSet presAssocID="{EDB7C7DF-DF34-4639-B465-6D4CD942AA6F}" presName="circ2" presStyleLbl="vennNode1" presStyleIdx="1" presStyleCnt="2"/>
      <dgm:spPr/>
    </dgm:pt>
    <dgm:pt modelId="{3B00CC83-9BE2-406C-8587-61AAEB5FCE23}" type="pres">
      <dgm:prSet presAssocID="{EDB7C7DF-DF34-4639-B465-6D4CD942AA6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A923445-5C73-462D-AE8D-7D1B5341125F}" type="presOf" srcId="{7E900783-914D-4341-907A-EAA164E16F99}" destId="{42261BE2-1CC7-4A5D-B0B0-C1153469752B}" srcOrd="0" destOrd="0" presId="urn:microsoft.com/office/officeart/2005/8/layout/venn1"/>
    <dgm:cxn modelId="{139B5154-5E63-4B9B-9B01-75A9D6EB77C0}" type="presOf" srcId="{5B4E8317-4425-4925-A5F8-31EA6CF88CD1}" destId="{ED0A0DDF-0B1C-4870-9701-63445258FB63}" srcOrd="1" destOrd="0" presId="urn:microsoft.com/office/officeart/2005/8/layout/venn1"/>
    <dgm:cxn modelId="{3B201CAE-11A3-4385-BB1A-9950DD594770}" srcId="{7E900783-914D-4341-907A-EAA164E16F99}" destId="{EDB7C7DF-DF34-4639-B465-6D4CD942AA6F}" srcOrd="1" destOrd="0" parTransId="{A352D033-DF70-46A5-9F0F-28C587D4E100}" sibTransId="{8F6EA3CC-61AB-4845-BEE0-426F4831CB27}"/>
    <dgm:cxn modelId="{B6B6C3C0-4E70-4DD9-B9C9-A8DC625047A3}" type="presOf" srcId="{5B4E8317-4425-4925-A5F8-31EA6CF88CD1}" destId="{F0034EBE-0355-402C-B820-446F4411A5EA}" srcOrd="0" destOrd="0" presId="urn:microsoft.com/office/officeart/2005/8/layout/venn1"/>
    <dgm:cxn modelId="{5EE5F4C1-175D-4C58-820C-1896E8137903}" type="presOf" srcId="{EDB7C7DF-DF34-4639-B465-6D4CD942AA6F}" destId="{3B00CC83-9BE2-406C-8587-61AAEB5FCE23}" srcOrd="1" destOrd="0" presId="urn:microsoft.com/office/officeart/2005/8/layout/venn1"/>
    <dgm:cxn modelId="{80CFCFC2-4092-459D-A4C0-DCC6D51958B1}" type="presOf" srcId="{EDB7C7DF-DF34-4639-B465-6D4CD942AA6F}" destId="{F37575CF-62C6-489F-BC96-617F10245A41}" srcOrd="0" destOrd="0" presId="urn:microsoft.com/office/officeart/2005/8/layout/venn1"/>
    <dgm:cxn modelId="{317D93F8-FF6F-4168-AD00-54C827125C19}" srcId="{7E900783-914D-4341-907A-EAA164E16F99}" destId="{5B4E8317-4425-4925-A5F8-31EA6CF88CD1}" srcOrd="0" destOrd="0" parTransId="{289238E8-FCBF-4700-9029-6543F7FEC82F}" sibTransId="{C56042B2-E313-4911-97C2-007BCFB42631}"/>
    <dgm:cxn modelId="{09B4841D-9F78-4C0E-86CE-B4AC649FC014}" type="presParOf" srcId="{42261BE2-1CC7-4A5D-B0B0-C1153469752B}" destId="{F0034EBE-0355-402C-B820-446F4411A5EA}" srcOrd="0" destOrd="0" presId="urn:microsoft.com/office/officeart/2005/8/layout/venn1"/>
    <dgm:cxn modelId="{3BC1D9DA-EC2A-401D-81FF-0F6E5E24D873}" type="presParOf" srcId="{42261BE2-1CC7-4A5D-B0B0-C1153469752B}" destId="{ED0A0DDF-0B1C-4870-9701-63445258FB63}" srcOrd="1" destOrd="0" presId="urn:microsoft.com/office/officeart/2005/8/layout/venn1"/>
    <dgm:cxn modelId="{618E7C40-1400-4D59-A025-859121445207}" type="presParOf" srcId="{42261BE2-1CC7-4A5D-B0B0-C1153469752B}" destId="{F37575CF-62C6-489F-BC96-617F10245A41}" srcOrd="2" destOrd="0" presId="urn:microsoft.com/office/officeart/2005/8/layout/venn1"/>
    <dgm:cxn modelId="{289900BD-4144-41CF-B1C9-666A0198F3C7}" type="presParOf" srcId="{42261BE2-1CC7-4A5D-B0B0-C1153469752B}" destId="{3B00CC83-9BE2-406C-8587-61AAEB5FCE2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900783-914D-4341-907A-EAA164E16F9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5B4E8317-4425-4925-A5F8-31EA6CF88CD1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endParaRPr lang="en-US" dirty="0"/>
        </a:p>
      </dgm:t>
    </dgm:pt>
    <dgm:pt modelId="{289238E8-FCBF-4700-9029-6543F7FEC82F}" type="parTrans" cxnId="{317D93F8-FF6F-4168-AD00-54C827125C19}">
      <dgm:prSet/>
      <dgm:spPr/>
      <dgm:t>
        <a:bodyPr/>
        <a:lstStyle/>
        <a:p>
          <a:endParaRPr lang="en-US"/>
        </a:p>
      </dgm:t>
    </dgm:pt>
    <dgm:pt modelId="{C56042B2-E313-4911-97C2-007BCFB42631}" type="sibTrans" cxnId="{317D93F8-FF6F-4168-AD00-54C827125C19}">
      <dgm:prSet/>
      <dgm:spPr/>
      <dgm:t>
        <a:bodyPr/>
        <a:lstStyle/>
        <a:p>
          <a:endParaRPr lang="en-US"/>
        </a:p>
      </dgm:t>
    </dgm:pt>
    <dgm:pt modelId="{EDB7C7DF-DF34-4639-B465-6D4CD942AA6F}">
      <dgm:prSet phldrT="[Text]"/>
      <dgm:spPr>
        <a:solidFill>
          <a:srgbClr val="7030A0">
            <a:alpha val="50000"/>
          </a:srgbClr>
        </a:solidFill>
      </dgm:spPr>
      <dgm:t>
        <a:bodyPr/>
        <a:lstStyle/>
        <a:p>
          <a:endParaRPr lang="en-US" dirty="0"/>
        </a:p>
      </dgm:t>
    </dgm:pt>
    <dgm:pt modelId="{A352D033-DF70-46A5-9F0F-28C587D4E100}" type="parTrans" cxnId="{3B201CAE-11A3-4385-BB1A-9950DD594770}">
      <dgm:prSet/>
      <dgm:spPr/>
      <dgm:t>
        <a:bodyPr/>
        <a:lstStyle/>
        <a:p>
          <a:endParaRPr lang="en-US"/>
        </a:p>
      </dgm:t>
    </dgm:pt>
    <dgm:pt modelId="{8F6EA3CC-61AB-4845-BEE0-426F4831CB27}" type="sibTrans" cxnId="{3B201CAE-11A3-4385-BB1A-9950DD594770}">
      <dgm:prSet/>
      <dgm:spPr/>
      <dgm:t>
        <a:bodyPr/>
        <a:lstStyle/>
        <a:p>
          <a:endParaRPr lang="en-US"/>
        </a:p>
      </dgm:t>
    </dgm:pt>
    <dgm:pt modelId="{42261BE2-1CC7-4A5D-B0B0-C1153469752B}" type="pres">
      <dgm:prSet presAssocID="{7E900783-914D-4341-907A-EAA164E16F99}" presName="compositeShape" presStyleCnt="0">
        <dgm:presLayoutVars>
          <dgm:chMax val="7"/>
          <dgm:dir/>
          <dgm:resizeHandles val="exact"/>
        </dgm:presLayoutVars>
      </dgm:prSet>
      <dgm:spPr/>
    </dgm:pt>
    <dgm:pt modelId="{F0034EBE-0355-402C-B820-446F4411A5EA}" type="pres">
      <dgm:prSet presAssocID="{5B4E8317-4425-4925-A5F8-31EA6CF88CD1}" presName="circ1" presStyleLbl="vennNode1" presStyleIdx="0" presStyleCnt="2" custLinFactNeighborX="67709" custLinFactNeighborY="-852"/>
      <dgm:spPr/>
    </dgm:pt>
    <dgm:pt modelId="{ED0A0DDF-0B1C-4870-9701-63445258FB63}" type="pres">
      <dgm:prSet presAssocID="{5B4E8317-4425-4925-A5F8-31EA6CF88CD1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37575CF-62C6-489F-BC96-617F10245A41}" type="pres">
      <dgm:prSet presAssocID="{EDB7C7DF-DF34-4639-B465-6D4CD942AA6F}" presName="circ2" presStyleLbl="vennNode1" presStyleIdx="1" presStyleCnt="2" custLinFactNeighborX="2936" custLinFactNeighborY="-586"/>
      <dgm:spPr/>
    </dgm:pt>
    <dgm:pt modelId="{3B00CC83-9BE2-406C-8587-61AAEB5FCE23}" type="pres">
      <dgm:prSet presAssocID="{EDB7C7DF-DF34-4639-B465-6D4CD942AA6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A923445-5C73-462D-AE8D-7D1B5341125F}" type="presOf" srcId="{7E900783-914D-4341-907A-EAA164E16F99}" destId="{42261BE2-1CC7-4A5D-B0B0-C1153469752B}" srcOrd="0" destOrd="0" presId="urn:microsoft.com/office/officeart/2005/8/layout/venn1"/>
    <dgm:cxn modelId="{139B5154-5E63-4B9B-9B01-75A9D6EB77C0}" type="presOf" srcId="{5B4E8317-4425-4925-A5F8-31EA6CF88CD1}" destId="{ED0A0DDF-0B1C-4870-9701-63445258FB63}" srcOrd="1" destOrd="0" presId="urn:microsoft.com/office/officeart/2005/8/layout/venn1"/>
    <dgm:cxn modelId="{3B201CAE-11A3-4385-BB1A-9950DD594770}" srcId="{7E900783-914D-4341-907A-EAA164E16F99}" destId="{EDB7C7DF-DF34-4639-B465-6D4CD942AA6F}" srcOrd="1" destOrd="0" parTransId="{A352D033-DF70-46A5-9F0F-28C587D4E100}" sibTransId="{8F6EA3CC-61AB-4845-BEE0-426F4831CB27}"/>
    <dgm:cxn modelId="{B6B6C3C0-4E70-4DD9-B9C9-A8DC625047A3}" type="presOf" srcId="{5B4E8317-4425-4925-A5F8-31EA6CF88CD1}" destId="{F0034EBE-0355-402C-B820-446F4411A5EA}" srcOrd="0" destOrd="0" presId="urn:microsoft.com/office/officeart/2005/8/layout/venn1"/>
    <dgm:cxn modelId="{5EE5F4C1-175D-4C58-820C-1896E8137903}" type="presOf" srcId="{EDB7C7DF-DF34-4639-B465-6D4CD942AA6F}" destId="{3B00CC83-9BE2-406C-8587-61AAEB5FCE23}" srcOrd="1" destOrd="0" presId="urn:microsoft.com/office/officeart/2005/8/layout/venn1"/>
    <dgm:cxn modelId="{80CFCFC2-4092-459D-A4C0-DCC6D51958B1}" type="presOf" srcId="{EDB7C7DF-DF34-4639-B465-6D4CD942AA6F}" destId="{F37575CF-62C6-489F-BC96-617F10245A41}" srcOrd="0" destOrd="0" presId="urn:microsoft.com/office/officeart/2005/8/layout/venn1"/>
    <dgm:cxn modelId="{317D93F8-FF6F-4168-AD00-54C827125C19}" srcId="{7E900783-914D-4341-907A-EAA164E16F99}" destId="{5B4E8317-4425-4925-A5F8-31EA6CF88CD1}" srcOrd="0" destOrd="0" parTransId="{289238E8-FCBF-4700-9029-6543F7FEC82F}" sibTransId="{C56042B2-E313-4911-97C2-007BCFB42631}"/>
    <dgm:cxn modelId="{09B4841D-9F78-4C0E-86CE-B4AC649FC014}" type="presParOf" srcId="{42261BE2-1CC7-4A5D-B0B0-C1153469752B}" destId="{F0034EBE-0355-402C-B820-446F4411A5EA}" srcOrd="0" destOrd="0" presId="urn:microsoft.com/office/officeart/2005/8/layout/venn1"/>
    <dgm:cxn modelId="{3BC1D9DA-EC2A-401D-81FF-0F6E5E24D873}" type="presParOf" srcId="{42261BE2-1CC7-4A5D-B0B0-C1153469752B}" destId="{ED0A0DDF-0B1C-4870-9701-63445258FB63}" srcOrd="1" destOrd="0" presId="urn:microsoft.com/office/officeart/2005/8/layout/venn1"/>
    <dgm:cxn modelId="{618E7C40-1400-4D59-A025-859121445207}" type="presParOf" srcId="{42261BE2-1CC7-4A5D-B0B0-C1153469752B}" destId="{F37575CF-62C6-489F-BC96-617F10245A41}" srcOrd="2" destOrd="0" presId="urn:microsoft.com/office/officeart/2005/8/layout/venn1"/>
    <dgm:cxn modelId="{289900BD-4144-41CF-B1C9-666A0198F3C7}" type="presParOf" srcId="{42261BE2-1CC7-4A5D-B0B0-C1153469752B}" destId="{3B00CC83-9BE2-406C-8587-61AAEB5FCE2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34EBE-0355-402C-B820-446F4411A5EA}">
      <dsp:nvSpPr>
        <dsp:cNvPr id="0" name=""/>
        <dsp:cNvSpPr/>
      </dsp:nvSpPr>
      <dsp:spPr>
        <a:xfrm>
          <a:off x="145351" y="123620"/>
          <a:ext cx="3585337" cy="3585337"/>
        </a:xfrm>
        <a:prstGeom prst="ellipse">
          <a:avLst/>
        </a:prstGeom>
        <a:solidFill>
          <a:srgbClr val="00B05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Potentially Observable</a:t>
          </a:r>
        </a:p>
      </dsp:txBody>
      <dsp:txXfrm>
        <a:off x="646006" y="546408"/>
        <a:ext cx="2067221" cy="2739760"/>
      </dsp:txXfrm>
    </dsp:sp>
    <dsp:sp modelId="{F37575CF-62C6-489F-BC96-617F10245A41}">
      <dsp:nvSpPr>
        <dsp:cNvPr id="0" name=""/>
        <dsp:cNvSpPr/>
      </dsp:nvSpPr>
      <dsp:spPr>
        <a:xfrm>
          <a:off x="2729378" y="123620"/>
          <a:ext cx="3585337" cy="3585337"/>
        </a:xfrm>
        <a:prstGeom prst="ellipse">
          <a:avLst/>
        </a:prstGeom>
        <a:solidFill>
          <a:srgbClr val="7030A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Eternal</a:t>
          </a:r>
        </a:p>
      </dsp:txBody>
      <dsp:txXfrm>
        <a:off x="3746838" y="546408"/>
        <a:ext cx="2067221" cy="2739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34EBE-0355-402C-B820-446F4411A5EA}">
      <dsp:nvSpPr>
        <dsp:cNvPr id="0" name=""/>
        <dsp:cNvSpPr/>
      </dsp:nvSpPr>
      <dsp:spPr>
        <a:xfrm>
          <a:off x="2572947" y="234587"/>
          <a:ext cx="3585337" cy="3585337"/>
        </a:xfrm>
        <a:prstGeom prst="ellipse">
          <a:avLst/>
        </a:prstGeom>
        <a:solidFill>
          <a:srgbClr val="00B05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073602" y="657376"/>
        <a:ext cx="2067221" cy="2739760"/>
      </dsp:txXfrm>
    </dsp:sp>
    <dsp:sp modelId="{F37575CF-62C6-489F-BC96-617F10245A41}">
      <dsp:nvSpPr>
        <dsp:cNvPr id="0" name=""/>
        <dsp:cNvSpPr/>
      </dsp:nvSpPr>
      <dsp:spPr>
        <a:xfrm>
          <a:off x="2834643" y="244124"/>
          <a:ext cx="3585337" cy="3585337"/>
        </a:xfrm>
        <a:prstGeom prst="ellipse">
          <a:avLst/>
        </a:prstGeom>
        <a:solidFill>
          <a:srgbClr val="7030A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852104" y="666913"/>
        <a:ext cx="2067221" cy="2739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4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4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7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9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6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9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9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1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3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9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9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39700-477C-419D-A4D0-7B7F37D27180}" type="datetimeFigureOut">
              <a:rPr lang="en-US" smtClean="0"/>
              <a:t>11/2/2017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3AF90-3AE9-45F3-8134-609C53047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0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generic is eternal inflation?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Ross Greenwood</a:t>
            </a:r>
          </a:p>
          <a:p>
            <a:r>
              <a:rPr lang="en-US" dirty="0"/>
              <a:t>Advancement to Candidacy</a:t>
            </a:r>
          </a:p>
        </p:txBody>
      </p:sp>
    </p:spTree>
    <p:extLst>
      <p:ext uri="{BB962C8B-B14F-4D97-AF65-F5344CB8AC3E}">
        <p14:creationId xmlns:p14="http://schemas.microsoft.com/office/powerpoint/2010/main" val="3087534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Preparation 3"/>
              <p:cNvSpPr/>
              <p:nvPr/>
            </p:nvSpPr>
            <p:spPr>
              <a:xfrm>
                <a:off x="1217944" y="2224772"/>
                <a:ext cx="1488332" cy="963038"/>
              </a:xfrm>
              <a:prstGeom prst="flowChartPreparation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Flowchart: Preparation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44" y="2224772"/>
                <a:ext cx="1488332" cy="963038"/>
              </a:xfrm>
              <a:prstGeom prst="flowChartPreparation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owchart: Alternate Process 4"/>
          <p:cNvSpPr/>
          <p:nvPr/>
        </p:nvSpPr>
        <p:spPr>
          <a:xfrm>
            <a:off x="1217944" y="700772"/>
            <a:ext cx="1488332" cy="963038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Generate potential as GRF</a:t>
            </a:r>
          </a:p>
        </p:txBody>
      </p:sp>
      <p:sp>
        <p:nvSpPr>
          <p:cNvPr id="9" name="Flowchart: Decision 8"/>
          <p:cNvSpPr/>
          <p:nvPr/>
        </p:nvSpPr>
        <p:spPr>
          <a:xfrm>
            <a:off x="3241903" y="2224772"/>
            <a:ext cx="1488332" cy="963038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Is SRA valid?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379" y="700772"/>
            <a:ext cx="1488332" cy="963038"/>
          </a:xfrm>
          <a:prstGeom prst="rect">
            <a:avLst/>
          </a:prstGeom>
          <a:solidFill>
            <a:srgbClr val="7698D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Look downhill for regions of valid SRA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267893" y="2224772"/>
                <a:ext cx="1488332" cy="963038"/>
              </a:xfrm>
              <a:prstGeom prst="rect">
                <a:avLst/>
              </a:prstGeom>
              <a:solidFill>
                <a:srgbClr val="7698D4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descends to SRA region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893" y="2224772"/>
                <a:ext cx="1488332" cy="963038"/>
              </a:xfrm>
              <a:prstGeom prst="rect">
                <a:avLst/>
              </a:prstGeom>
              <a:blipFill>
                <a:blip r:embed="rId3"/>
                <a:stretch>
                  <a:fillRect t="-625" b="-6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242919" y="3669329"/>
            <a:ext cx="1488332" cy="9630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Look downhill to next local minimum</a:t>
            </a:r>
          </a:p>
        </p:txBody>
      </p:sp>
      <p:cxnSp>
        <p:nvCxnSpPr>
          <p:cNvPr id="21" name="Straight Arrow Connector 20"/>
          <p:cNvCxnSpPr>
            <a:stCxn id="5" idx="2"/>
            <a:endCxn id="4" idx="0"/>
          </p:cNvCxnSpPr>
          <p:nvPr/>
        </p:nvCxnSpPr>
        <p:spPr>
          <a:xfrm>
            <a:off x="1962110" y="1663810"/>
            <a:ext cx="0" cy="5609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9" idx="1"/>
          </p:cNvCxnSpPr>
          <p:nvPr/>
        </p:nvCxnSpPr>
        <p:spPr>
          <a:xfrm>
            <a:off x="2705262" y="2706291"/>
            <a:ext cx="53664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0"/>
            <a:endCxn id="12" idx="2"/>
          </p:cNvCxnSpPr>
          <p:nvPr/>
        </p:nvCxnSpPr>
        <p:spPr>
          <a:xfrm flipH="1" flipV="1">
            <a:off x="3984545" y="1663810"/>
            <a:ext cx="1524" cy="5609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Decision 34"/>
          <p:cNvSpPr/>
          <p:nvPr/>
        </p:nvSpPr>
        <p:spPr>
          <a:xfrm>
            <a:off x="5266949" y="698232"/>
            <a:ext cx="1489277" cy="963038"/>
          </a:xfrm>
          <a:prstGeom prst="flowChartDecision">
            <a:avLst/>
          </a:prstGeom>
          <a:solidFill>
            <a:srgbClr val="7698D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Find any?</a:t>
            </a:r>
          </a:p>
        </p:txBody>
      </p:sp>
      <p:cxnSp>
        <p:nvCxnSpPr>
          <p:cNvPr id="37" name="Elbow Connector 36"/>
          <p:cNvCxnSpPr>
            <a:stCxn id="12" idx="3"/>
            <a:endCxn id="35" idx="1"/>
          </p:cNvCxnSpPr>
          <p:nvPr/>
        </p:nvCxnSpPr>
        <p:spPr>
          <a:xfrm flipV="1">
            <a:off x="4728711" y="1179751"/>
            <a:ext cx="538238" cy="254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35" idx="2"/>
            <a:endCxn id="18" idx="0"/>
          </p:cNvCxnSpPr>
          <p:nvPr/>
        </p:nvCxnSpPr>
        <p:spPr>
          <a:xfrm rot="16200000" flipH="1">
            <a:off x="5730072" y="1942785"/>
            <a:ext cx="563502" cy="471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9" idx="2"/>
            <a:endCxn id="19" idx="0"/>
          </p:cNvCxnSpPr>
          <p:nvPr/>
        </p:nvCxnSpPr>
        <p:spPr>
          <a:xfrm rot="16200000" flipH="1">
            <a:off x="3745818" y="3428061"/>
            <a:ext cx="481519" cy="101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18" idx="2"/>
            <a:endCxn id="19" idx="3"/>
          </p:cNvCxnSpPr>
          <p:nvPr/>
        </p:nvCxnSpPr>
        <p:spPr>
          <a:xfrm rot="5400000">
            <a:off x="4890136" y="3028925"/>
            <a:ext cx="963038" cy="128080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40989" y="1712488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96690" y="3190080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96691" y="1808015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Flowchart: Stored Data 63"/>
              <p:cNvSpPr/>
              <p:nvPr/>
            </p:nvSpPr>
            <p:spPr>
              <a:xfrm>
                <a:off x="7613974" y="700773"/>
                <a:ext cx="4616956" cy="2493386"/>
              </a:xfrm>
              <a:prstGeom prst="flowChartOnlineStorag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𝑣𝑎𝑐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eternal inflation epochs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</a:t>
                </a:r>
                <a:r>
                  <a:rPr lang="en-US" i="1" dirty="0"/>
                  <a:t>e</a:t>
                </a:r>
                <a:r>
                  <a:rPr lang="en-US" dirty="0"/>
                  <a:t>-folds stochastic eternal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Topological eternal? Y/N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</a:t>
                </a:r>
                <a:r>
                  <a:rPr lang="en-US" i="1" dirty="0"/>
                  <a:t>e</a:t>
                </a:r>
                <a:r>
                  <a:rPr lang="en-US" dirty="0"/>
                  <a:t>-folds elapsed since last eternal above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Status flags if discarded</a:t>
                </a:r>
              </a:p>
            </p:txBody>
          </p:sp>
        </mc:Choice>
        <mc:Fallback xmlns="">
          <p:sp>
            <p:nvSpPr>
              <p:cNvPr id="64" name="Flowchart: Stored Data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974" y="700773"/>
                <a:ext cx="4616956" cy="2493386"/>
              </a:xfrm>
              <a:prstGeom prst="flowChartOnlineStorag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Flowchart: Decision 66"/>
              <p:cNvSpPr/>
              <p:nvPr/>
            </p:nvSpPr>
            <p:spPr>
              <a:xfrm>
                <a:off x="3242919" y="5067940"/>
                <a:ext cx="1488333" cy="963038"/>
              </a:xfrm>
              <a:prstGeom prst="flowChartDecision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vac</m:t>
                        </m:r>
                      </m:sub>
                    </m:sSub>
                  </m:oMath>
                </a14:m>
                <a:r>
                  <a:rPr lang="en-US" dirty="0"/>
                  <a:t> big?</a:t>
                </a:r>
              </a:p>
            </p:txBody>
          </p:sp>
        </mc:Choice>
        <mc:Fallback xmlns="">
          <p:sp>
            <p:nvSpPr>
              <p:cNvPr id="67" name="Flowchart: Decision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919" y="5067940"/>
                <a:ext cx="1488333" cy="963038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&quot;No&quot; Symbol 67"/>
          <p:cNvSpPr/>
          <p:nvPr/>
        </p:nvSpPr>
        <p:spPr>
          <a:xfrm>
            <a:off x="7032505" y="964672"/>
            <a:ext cx="434650" cy="43465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1" name="Elbow Connector 70"/>
          <p:cNvCxnSpPr>
            <a:stCxn id="35" idx="3"/>
            <a:endCxn id="68" idx="2"/>
          </p:cNvCxnSpPr>
          <p:nvPr/>
        </p:nvCxnSpPr>
        <p:spPr>
          <a:xfrm>
            <a:off x="6756226" y="1179751"/>
            <a:ext cx="276279" cy="224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4703468" y="5602460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9173564" y="5063525"/>
                <a:ext cx="1492930" cy="963038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exit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algn="ctr"/>
                <a:r>
                  <a:rPr lang="en-US" dirty="0"/>
                  <a:t>compute observables</a:t>
                </a: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564" y="5063525"/>
                <a:ext cx="1492930" cy="963038"/>
              </a:xfrm>
              <a:prstGeom prst="rect">
                <a:avLst/>
              </a:prstGeom>
              <a:blipFill>
                <a:blip r:embed="rId6"/>
                <a:stretch>
                  <a:fillRect t="-625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Flowchart: Predefined Process 82"/>
          <p:cNvSpPr/>
          <p:nvPr/>
        </p:nvSpPr>
        <p:spPr>
          <a:xfrm>
            <a:off x="11122859" y="3669329"/>
            <a:ext cx="1614440" cy="963038"/>
          </a:xfrm>
          <a:prstGeom prst="flowChartPredefined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Check topological eternal</a:t>
            </a:r>
          </a:p>
        </p:txBody>
      </p:sp>
      <p:sp>
        <p:nvSpPr>
          <p:cNvPr id="105" name="Flowchart: Predefined Process 104"/>
          <p:cNvSpPr/>
          <p:nvPr/>
        </p:nvSpPr>
        <p:spPr>
          <a:xfrm>
            <a:off x="11122859" y="5060652"/>
            <a:ext cx="1614440" cy="963038"/>
          </a:xfrm>
          <a:prstGeom prst="flowChartPredefinedProcess">
            <a:avLst/>
          </a:prstGeom>
          <a:solidFill>
            <a:srgbClr val="4472C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Check stochastic eternal</a:t>
            </a:r>
          </a:p>
        </p:txBody>
      </p:sp>
      <p:sp>
        <p:nvSpPr>
          <p:cNvPr id="106" name="Flowchart: Predefined Process 105"/>
          <p:cNvSpPr/>
          <p:nvPr/>
        </p:nvSpPr>
        <p:spPr>
          <a:xfrm>
            <a:off x="1217945" y="5063526"/>
            <a:ext cx="1488331" cy="963038"/>
          </a:xfrm>
          <a:prstGeom prst="flowChartPredefinedProcess">
            <a:avLst/>
          </a:prstGeom>
          <a:solidFill>
            <a:srgbClr val="4472C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Check false-</a:t>
            </a:r>
            <a:r>
              <a:rPr lang="en-US" dirty="0" err="1"/>
              <a:t>vac</a:t>
            </a:r>
            <a:r>
              <a:rPr lang="en-US" dirty="0"/>
              <a:t> eternal</a:t>
            </a:r>
          </a:p>
        </p:txBody>
      </p:sp>
      <p:sp>
        <p:nvSpPr>
          <p:cNvPr id="142" name="Flowchart: Connector 141"/>
          <p:cNvSpPr>
            <a:spLocks noChangeAspect="1"/>
          </p:cNvSpPr>
          <p:nvPr/>
        </p:nvSpPr>
        <p:spPr>
          <a:xfrm>
            <a:off x="9709732" y="6500423"/>
            <a:ext cx="423639" cy="393078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96" name="Elbow Connector 195"/>
          <p:cNvCxnSpPr/>
          <p:nvPr/>
        </p:nvCxnSpPr>
        <p:spPr>
          <a:xfrm flipV="1">
            <a:off x="12546083" y="7876571"/>
            <a:ext cx="288216" cy="93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&quot;No&quot; Symbol 228"/>
          <p:cNvSpPr/>
          <p:nvPr/>
        </p:nvSpPr>
        <p:spPr>
          <a:xfrm>
            <a:off x="1755291" y="6355959"/>
            <a:ext cx="434650" cy="43465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Rectangle 231"/>
              <p:cNvSpPr/>
              <p:nvPr/>
            </p:nvSpPr>
            <p:spPr>
              <a:xfrm>
                <a:off x="14140532" y="3474814"/>
                <a:ext cx="1488332" cy="9630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en-US" dirty="0"/>
                  <a:t> given by SR equation of motion</a:t>
                </a:r>
              </a:p>
            </p:txBody>
          </p:sp>
        </mc:Choice>
        <mc:Fallback xmlns="">
          <p:sp>
            <p:nvSpPr>
              <p:cNvPr id="232" name="Rectangle 2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532" y="3474814"/>
                <a:ext cx="1488332" cy="963038"/>
              </a:xfrm>
              <a:prstGeom prst="rect">
                <a:avLst/>
              </a:prstGeom>
              <a:blipFill>
                <a:blip r:embed="rId7"/>
                <a:stretch>
                  <a:fillRect r="-487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Rectangle 236"/>
              <p:cNvSpPr/>
              <p:nvPr/>
            </p:nvSpPr>
            <p:spPr>
              <a:xfrm>
                <a:off x="5267893" y="5069973"/>
                <a:ext cx="1488332" cy="963038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Search for breakdown of SRA: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end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7" name="Rectangle 2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893" y="5069973"/>
                <a:ext cx="1488332" cy="963038"/>
              </a:xfrm>
              <a:prstGeom prst="rect">
                <a:avLst/>
              </a:prstGeom>
              <a:blipFill>
                <a:blip r:embed="rId8"/>
                <a:stretch>
                  <a:fillRect l="-2439" t="-1250" r="-5691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1" name="Elbow Connector 240"/>
          <p:cNvCxnSpPr>
            <a:stCxn id="19" idx="2"/>
            <a:endCxn id="67" idx="0"/>
          </p:cNvCxnSpPr>
          <p:nvPr/>
        </p:nvCxnSpPr>
        <p:spPr>
          <a:xfrm rot="16200000" flipH="1">
            <a:off x="3769299" y="4850152"/>
            <a:ext cx="435573" cy="1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Elbow Connector 243"/>
          <p:cNvCxnSpPr>
            <a:stCxn id="67" idx="1"/>
            <a:endCxn id="106" idx="3"/>
          </p:cNvCxnSpPr>
          <p:nvPr/>
        </p:nvCxnSpPr>
        <p:spPr>
          <a:xfrm rot="10800000">
            <a:off x="2706277" y="5545045"/>
            <a:ext cx="536643" cy="4414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Elbow Connector 248"/>
          <p:cNvCxnSpPr>
            <a:stCxn id="67" idx="3"/>
            <a:endCxn id="237" idx="1"/>
          </p:cNvCxnSpPr>
          <p:nvPr/>
        </p:nvCxnSpPr>
        <p:spPr>
          <a:xfrm>
            <a:off x="4731252" y="5549459"/>
            <a:ext cx="536641" cy="2033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2796206" y="5585895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253" name="Elbow Connector 252"/>
          <p:cNvCxnSpPr>
            <a:cxnSpLocks/>
            <a:stCxn id="106" idx="0"/>
            <a:endCxn id="63" idx="2"/>
          </p:cNvCxnSpPr>
          <p:nvPr/>
        </p:nvCxnSpPr>
        <p:spPr>
          <a:xfrm rot="16200000" flipV="1">
            <a:off x="1744279" y="4845693"/>
            <a:ext cx="434650" cy="1015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Elbow Connector 255"/>
          <p:cNvCxnSpPr>
            <a:stCxn id="106" idx="2"/>
            <a:endCxn id="229" idx="0"/>
          </p:cNvCxnSpPr>
          <p:nvPr/>
        </p:nvCxnSpPr>
        <p:spPr>
          <a:xfrm rot="16200000" flipH="1">
            <a:off x="1802667" y="6186008"/>
            <a:ext cx="329395" cy="1050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378173" y="4682906"/>
            <a:ext cx="180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     tunneling</a:t>
            </a:r>
          </a:p>
        </p:txBody>
      </p:sp>
      <p:sp>
        <p:nvSpPr>
          <p:cNvPr id="320" name="Flowchart: Connector 319"/>
          <p:cNvSpPr>
            <a:spLocks noChangeAspect="1"/>
          </p:cNvSpPr>
          <p:nvPr/>
        </p:nvSpPr>
        <p:spPr>
          <a:xfrm>
            <a:off x="9710077" y="3952371"/>
            <a:ext cx="423639" cy="393078"/>
          </a:xfrm>
          <a:prstGeom prst="flowChartConnector">
            <a:avLst/>
          </a:prstGeom>
          <a:noFill/>
          <a:ln w="57150">
            <a:solidFill>
              <a:srgbClr val="5B9BD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6" name="TextBox 345"/>
          <p:cNvSpPr txBox="1"/>
          <p:nvPr/>
        </p:nvSpPr>
        <p:spPr>
          <a:xfrm>
            <a:off x="3915868" y="6405244"/>
            <a:ext cx="3057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SRA = Slow Roll Approximation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2220962" y="6384224"/>
            <a:ext cx="87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Discard</a:t>
            </a:r>
          </a:p>
        </p:txBody>
      </p:sp>
      <p:sp>
        <p:nvSpPr>
          <p:cNvPr id="353" name="Flowchart: Decision 352"/>
          <p:cNvSpPr/>
          <p:nvPr/>
        </p:nvSpPr>
        <p:spPr>
          <a:xfrm>
            <a:off x="7220729" y="5069416"/>
            <a:ext cx="1488333" cy="963038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55 </a:t>
            </a:r>
            <a:r>
              <a:rPr lang="en-US" i="1" dirty="0"/>
              <a:t>e</a:t>
            </a:r>
            <a:r>
              <a:rPr lang="en-US" dirty="0"/>
              <a:t>-folds?</a:t>
            </a:r>
          </a:p>
        </p:txBody>
      </p:sp>
      <p:cxnSp>
        <p:nvCxnSpPr>
          <p:cNvPr id="355" name="Elbow Connector 354"/>
          <p:cNvCxnSpPr>
            <a:stCxn id="237" idx="3"/>
            <a:endCxn id="353" idx="1"/>
          </p:cNvCxnSpPr>
          <p:nvPr/>
        </p:nvCxnSpPr>
        <p:spPr>
          <a:xfrm flipV="1">
            <a:off x="6756226" y="5550936"/>
            <a:ext cx="464503" cy="55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Elbow Connector 362"/>
          <p:cNvCxnSpPr>
            <a:stCxn id="353" idx="2"/>
            <a:endCxn id="142" idx="2"/>
          </p:cNvCxnSpPr>
          <p:nvPr/>
        </p:nvCxnSpPr>
        <p:spPr>
          <a:xfrm rot="16200000" flipH="1">
            <a:off x="8505060" y="5492290"/>
            <a:ext cx="664508" cy="174483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Elbow Connector 378"/>
          <p:cNvCxnSpPr>
            <a:stCxn id="320" idx="0"/>
            <a:endCxn id="64" idx="2"/>
          </p:cNvCxnSpPr>
          <p:nvPr/>
        </p:nvCxnSpPr>
        <p:spPr>
          <a:xfrm rot="5400000" flipH="1" flipV="1">
            <a:off x="9543068" y="3572988"/>
            <a:ext cx="758212" cy="555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/>
          <p:cNvCxnSpPr>
            <a:stCxn id="83" idx="1"/>
            <a:endCxn id="320" idx="6"/>
          </p:cNvCxnSpPr>
          <p:nvPr/>
        </p:nvCxnSpPr>
        <p:spPr>
          <a:xfrm rot="10800000">
            <a:off x="10133717" y="4148910"/>
            <a:ext cx="989143" cy="193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Elbow Connector 400"/>
          <p:cNvCxnSpPr>
            <a:stCxn id="105" idx="0"/>
            <a:endCxn id="83" idx="2"/>
          </p:cNvCxnSpPr>
          <p:nvPr/>
        </p:nvCxnSpPr>
        <p:spPr>
          <a:xfrm rot="5400000" flipH="1" flipV="1">
            <a:off x="11715938" y="4846510"/>
            <a:ext cx="428285" cy="1270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Elbow Connector 402"/>
          <p:cNvCxnSpPr>
            <a:stCxn id="142" idx="6"/>
            <a:endCxn id="105" idx="2"/>
          </p:cNvCxnSpPr>
          <p:nvPr/>
        </p:nvCxnSpPr>
        <p:spPr>
          <a:xfrm flipV="1">
            <a:off x="10133371" y="6023690"/>
            <a:ext cx="1796708" cy="67327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Elbow Connector 405"/>
          <p:cNvCxnSpPr>
            <a:stCxn id="95" idx="0"/>
            <a:endCxn id="320" idx="4"/>
          </p:cNvCxnSpPr>
          <p:nvPr/>
        </p:nvCxnSpPr>
        <p:spPr>
          <a:xfrm rot="5400000" flipH="1" flipV="1">
            <a:off x="9561925" y="4703553"/>
            <a:ext cx="718076" cy="186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Elbow Connector 407"/>
          <p:cNvCxnSpPr>
            <a:stCxn id="142" idx="0"/>
            <a:endCxn id="95" idx="2"/>
          </p:cNvCxnSpPr>
          <p:nvPr/>
        </p:nvCxnSpPr>
        <p:spPr>
          <a:xfrm rot="16200000" flipV="1">
            <a:off x="9683861" y="6262731"/>
            <a:ext cx="473860" cy="1523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&quot;No&quot; Symbol 408"/>
          <p:cNvSpPr/>
          <p:nvPr/>
        </p:nvSpPr>
        <p:spPr>
          <a:xfrm>
            <a:off x="7747569" y="4277626"/>
            <a:ext cx="434650" cy="434650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1" name="Elbow Connector 410"/>
          <p:cNvCxnSpPr>
            <a:stCxn id="353" idx="0"/>
            <a:endCxn id="409" idx="4"/>
          </p:cNvCxnSpPr>
          <p:nvPr/>
        </p:nvCxnSpPr>
        <p:spPr>
          <a:xfrm rot="16200000" flipV="1">
            <a:off x="7786325" y="4890845"/>
            <a:ext cx="357140" cy="2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8005862" y="6228443"/>
            <a:ext cx="496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5EBBBE7-9916-4989-80C8-F1B3019FCB49}"/>
              </a:ext>
            </a:extLst>
          </p:cNvPr>
          <p:cNvSpPr/>
          <p:nvPr/>
        </p:nvSpPr>
        <p:spPr>
          <a:xfrm>
            <a:off x="1216930" y="3665838"/>
            <a:ext cx="1488332" cy="9630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Tunnel into adjacent basin</a:t>
            </a:r>
          </a:p>
        </p:txBody>
      </p:sp>
      <p:cxnSp>
        <p:nvCxnSpPr>
          <p:cNvPr id="65" name="Elbow Connector 252">
            <a:extLst>
              <a:ext uri="{FF2B5EF4-FFF2-40B4-BE49-F238E27FC236}">
                <a16:creationId xmlns:a16="http://schemas.microsoft.com/office/drawing/2014/main" id="{15E6F057-3BA7-485D-8C12-B29C19EDE2B1}"/>
              </a:ext>
            </a:extLst>
          </p:cNvPr>
          <p:cNvCxnSpPr>
            <a:cxnSpLocks/>
            <a:stCxn id="63" idx="3"/>
            <a:endCxn id="19" idx="1"/>
          </p:cNvCxnSpPr>
          <p:nvPr/>
        </p:nvCxnSpPr>
        <p:spPr>
          <a:xfrm>
            <a:off x="2705262" y="4147357"/>
            <a:ext cx="537657" cy="349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17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Preparation 3"/>
              <p:cNvSpPr/>
              <p:nvPr/>
            </p:nvSpPr>
            <p:spPr>
              <a:xfrm>
                <a:off x="2582402" y="2419962"/>
                <a:ext cx="1488332" cy="963038"/>
              </a:xfrm>
              <a:prstGeom prst="flowChartPreparation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Start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𝑓𝑣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Flowchart: Preparation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402" y="2419962"/>
                <a:ext cx="1488332" cy="963038"/>
              </a:xfrm>
              <a:prstGeom prst="flowChartPreparation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owchart: Alternate Process 4"/>
          <p:cNvSpPr/>
          <p:nvPr/>
        </p:nvSpPr>
        <p:spPr>
          <a:xfrm>
            <a:off x="3778617" y="6310553"/>
            <a:ext cx="1488332" cy="963038"/>
          </a:xfrm>
          <a:prstGeom prst="flowChartAlternate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Rescale potential</a:t>
            </a:r>
          </a:p>
        </p:txBody>
      </p:sp>
      <p:sp>
        <p:nvSpPr>
          <p:cNvPr id="9" name="Flowchart: Decision 8"/>
          <p:cNvSpPr/>
          <p:nvPr/>
        </p:nvSpPr>
        <p:spPr>
          <a:xfrm>
            <a:off x="6215441" y="5963502"/>
            <a:ext cx="1488332" cy="963038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TWA valid?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005" y="1795972"/>
            <a:ext cx="1488332" cy="963038"/>
          </a:xfrm>
          <a:prstGeom prst="rect">
            <a:avLst/>
          </a:prstGeom>
          <a:solidFill>
            <a:srgbClr val="7698D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Look downhill for regions of valid SRA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37833" y="613355"/>
                <a:ext cx="1488332" cy="963038"/>
              </a:xfrm>
              <a:prstGeom prst="rect">
                <a:avLst/>
              </a:prstGeom>
              <a:solidFill>
                <a:srgbClr val="7698D4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descends to SRA region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33" y="613355"/>
                <a:ext cx="1488332" cy="963038"/>
              </a:xfrm>
              <a:prstGeom prst="rect">
                <a:avLst/>
              </a:prstGeom>
              <a:blipFill>
                <a:blip r:embed="rId3"/>
                <a:stretch>
                  <a:fillRect t="-625" b="-6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941633" y="1261734"/>
            <a:ext cx="1488332" cy="9630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Integrate equations of motion</a:t>
            </a:r>
          </a:p>
        </p:txBody>
      </p:sp>
      <p:sp>
        <p:nvSpPr>
          <p:cNvPr id="35" name="Flowchart: Decision 34"/>
          <p:cNvSpPr/>
          <p:nvPr/>
        </p:nvSpPr>
        <p:spPr>
          <a:xfrm>
            <a:off x="1549811" y="3499963"/>
            <a:ext cx="1489277" cy="963038"/>
          </a:xfrm>
          <a:prstGeom prst="flowChartDecision">
            <a:avLst/>
          </a:prstGeom>
          <a:solidFill>
            <a:srgbClr val="7698D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Find any?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Flowchart: Decision 66"/>
              <p:cNvSpPr/>
              <p:nvPr/>
            </p:nvSpPr>
            <p:spPr>
              <a:xfrm>
                <a:off x="1914453" y="5000464"/>
                <a:ext cx="1488333" cy="963038"/>
              </a:xfrm>
              <a:prstGeom prst="flowChartDecision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vac</m:t>
                        </m:r>
                      </m:sub>
                    </m:sSub>
                  </m:oMath>
                </a14:m>
                <a:r>
                  <a:rPr lang="en-US" dirty="0"/>
                  <a:t> big?</a:t>
                </a:r>
              </a:p>
            </p:txBody>
          </p:sp>
        </mc:Choice>
        <mc:Fallback xmlns="">
          <p:sp>
            <p:nvSpPr>
              <p:cNvPr id="67" name="Flowchart: Decision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453" y="5000464"/>
                <a:ext cx="1488333" cy="963038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Flowchart: Predefined Process 105"/>
          <p:cNvSpPr/>
          <p:nvPr/>
        </p:nvSpPr>
        <p:spPr>
          <a:xfrm>
            <a:off x="267851" y="5000464"/>
            <a:ext cx="1488331" cy="963038"/>
          </a:xfrm>
          <a:prstGeom prst="flowChartPredefinedProcess">
            <a:avLst/>
          </a:prstGeom>
          <a:solidFill>
            <a:srgbClr val="848484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Check false-</a:t>
            </a:r>
            <a:r>
              <a:rPr lang="en-US" dirty="0" err="1"/>
              <a:t>vac</a:t>
            </a:r>
            <a:r>
              <a:rPr lang="en-US" dirty="0"/>
              <a:t> eternal</a:t>
            </a:r>
          </a:p>
        </p:txBody>
      </p:sp>
      <p:cxnSp>
        <p:nvCxnSpPr>
          <p:cNvPr id="196" name="Elbow Connector 195"/>
          <p:cNvCxnSpPr/>
          <p:nvPr/>
        </p:nvCxnSpPr>
        <p:spPr>
          <a:xfrm flipV="1">
            <a:off x="12546083" y="7876571"/>
            <a:ext cx="288216" cy="93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Rectangle 231"/>
              <p:cNvSpPr/>
              <p:nvPr/>
            </p:nvSpPr>
            <p:spPr>
              <a:xfrm>
                <a:off x="14140532" y="3474814"/>
                <a:ext cx="1488332" cy="96303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en-US" dirty="0"/>
                  <a:t> given by SR equation of motion</a:t>
                </a:r>
              </a:p>
            </p:txBody>
          </p:sp>
        </mc:Choice>
        <mc:Fallback xmlns="">
          <p:sp>
            <p:nvSpPr>
              <p:cNvPr id="232" name="Rectangle 2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532" y="3474814"/>
                <a:ext cx="1488332" cy="963038"/>
              </a:xfrm>
              <a:prstGeom prst="rect">
                <a:avLst/>
              </a:prstGeom>
              <a:blipFill>
                <a:blip r:embed="rId7"/>
                <a:stretch>
                  <a:fillRect r="-4878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Rectangle 236"/>
          <p:cNvSpPr/>
          <p:nvPr/>
        </p:nvSpPr>
        <p:spPr>
          <a:xfrm>
            <a:off x="11811105" y="1261734"/>
            <a:ext cx="1488332" cy="9630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Compute tunneling rate</a:t>
            </a:r>
          </a:p>
        </p:txBody>
      </p: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8ABAF8A3-EC8F-4AED-B1FD-EB1B94DDAD4F}"/>
              </a:ext>
            </a:extLst>
          </p:cNvPr>
          <p:cNvSpPr/>
          <p:nvPr/>
        </p:nvSpPr>
        <p:spPr>
          <a:xfrm>
            <a:off x="5870657" y="1261736"/>
            <a:ext cx="1488332" cy="963038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5AFB177-419C-43A6-9D5D-8C9472EBEE6F}"/>
                  </a:ext>
                </a:extLst>
              </p:cNvPr>
              <p:cNvSpPr/>
              <p:nvPr/>
            </p:nvSpPr>
            <p:spPr>
              <a:xfrm>
                <a:off x="8096715" y="396839"/>
                <a:ext cx="1488332" cy="963038"/>
              </a:xfrm>
              <a:prstGeom prst="rect">
                <a:avLst/>
              </a:prstGeom>
              <a:solidFill>
                <a:srgbClr val="7698D4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Start closer </a:t>
                </a:r>
                <a:br>
                  <a:rPr lang="en-US" dirty="0"/>
                </a:b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5AFB177-419C-43A6-9D5D-8C9472EBE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715" y="396839"/>
                <a:ext cx="1488332" cy="9630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233368E-A801-43D8-9B97-808C859F3E5A}"/>
                  </a:ext>
                </a:extLst>
              </p:cNvPr>
              <p:cNvSpPr/>
              <p:nvPr/>
            </p:nvSpPr>
            <p:spPr>
              <a:xfrm>
                <a:off x="8081408" y="2112586"/>
                <a:ext cx="1488332" cy="963038"/>
              </a:xfrm>
              <a:prstGeom prst="rect">
                <a:avLst/>
              </a:prstGeom>
              <a:solidFill>
                <a:srgbClr val="7698D4"/>
              </a:solidFill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dirty="0"/>
                  <a:t>Start closer </a:t>
                </a:r>
                <a:br>
                  <a:rPr lang="en-US" dirty="0"/>
                </a:br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E233368E-A801-43D8-9B97-808C859F3E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408" y="2112586"/>
                <a:ext cx="1488332" cy="9630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D967F41D-9647-44C3-A901-070D6306D55E}"/>
              </a:ext>
            </a:extLst>
          </p:cNvPr>
          <p:cNvSpPr txBox="1"/>
          <p:nvPr/>
        </p:nvSpPr>
        <p:spPr>
          <a:xfrm>
            <a:off x="7358989" y="1390681"/>
            <a:ext cx="1133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Converge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2C0134-02FB-44BA-A01E-49F03F1EFB90}"/>
              </a:ext>
            </a:extLst>
          </p:cNvPr>
          <p:cNvSpPr txBox="1"/>
          <p:nvPr/>
        </p:nvSpPr>
        <p:spPr>
          <a:xfrm>
            <a:off x="6702100" y="2636148"/>
            <a:ext cx="132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Undershoot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597A8A-7388-415F-BDE9-3A404A4F183E}"/>
              </a:ext>
            </a:extLst>
          </p:cNvPr>
          <p:cNvSpPr txBox="1"/>
          <p:nvPr/>
        </p:nvSpPr>
        <p:spPr>
          <a:xfrm>
            <a:off x="6728379" y="486792"/>
            <a:ext cx="132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Overshoot</a:t>
            </a:r>
          </a:p>
        </p:txBody>
      </p:sp>
      <p:cxnSp>
        <p:nvCxnSpPr>
          <p:cNvPr id="79" name="Elbow Connector 398">
            <a:extLst>
              <a:ext uri="{FF2B5EF4-FFF2-40B4-BE49-F238E27FC236}">
                <a16:creationId xmlns:a16="http://schemas.microsoft.com/office/drawing/2014/main" id="{5ADB80BA-C1C2-4E95-9612-84F97C4D9F05}"/>
              </a:ext>
            </a:extLst>
          </p:cNvPr>
          <p:cNvCxnSpPr>
            <a:cxnSpLocks/>
            <a:stCxn id="58" idx="3"/>
            <a:endCxn id="110" idx="0"/>
          </p:cNvCxnSpPr>
          <p:nvPr/>
        </p:nvCxnSpPr>
        <p:spPr>
          <a:xfrm>
            <a:off x="9585047" y="878358"/>
            <a:ext cx="1278948" cy="123422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398">
            <a:extLst>
              <a:ext uri="{FF2B5EF4-FFF2-40B4-BE49-F238E27FC236}">
                <a16:creationId xmlns:a16="http://schemas.microsoft.com/office/drawing/2014/main" id="{B489A42D-7C9F-40CA-ABC9-7359573B8777}"/>
              </a:ext>
            </a:extLst>
          </p:cNvPr>
          <p:cNvCxnSpPr>
            <a:cxnSpLocks/>
            <a:stCxn id="65" idx="3"/>
            <a:endCxn id="110" idx="1"/>
          </p:cNvCxnSpPr>
          <p:nvPr/>
        </p:nvCxnSpPr>
        <p:spPr>
          <a:xfrm>
            <a:off x="9569740" y="2594105"/>
            <a:ext cx="550089" cy="1270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398">
            <a:extLst>
              <a:ext uri="{FF2B5EF4-FFF2-40B4-BE49-F238E27FC236}">
                <a16:creationId xmlns:a16="http://schemas.microsoft.com/office/drawing/2014/main" id="{80E6359E-EC85-422C-A1CA-A2D5FDEAB355}"/>
              </a:ext>
            </a:extLst>
          </p:cNvPr>
          <p:cNvCxnSpPr>
            <a:cxnSpLocks/>
            <a:stCxn id="110" idx="2"/>
            <a:endCxn id="19" idx="2"/>
          </p:cNvCxnSpPr>
          <p:nvPr/>
        </p:nvCxnSpPr>
        <p:spPr>
          <a:xfrm rot="5400000" flipH="1">
            <a:off x="7349471" y="-438900"/>
            <a:ext cx="850852" cy="6178196"/>
          </a:xfrm>
          <a:prstGeom prst="bentConnector3">
            <a:avLst>
              <a:gd name="adj1" fmla="val -36749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398">
            <a:extLst>
              <a:ext uri="{FF2B5EF4-FFF2-40B4-BE49-F238E27FC236}">
                <a16:creationId xmlns:a16="http://schemas.microsoft.com/office/drawing/2014/main" id="{45E27339-F0AA-4960-8BBB-3272546EF3A2}"/>
              </a:ext>
            </a:extLst>
          </p:cNvPr>
          <p:cNvCxnSpPr>
            <a:cxnSpLocks/>
            <a:stCxn id="57" idx="0"/>
            <a:endCxn id="58" idx="1"/>
          </p:cNvCxnSpPr>
          <p:nvPr/>
        </p:nvCxnSpPr>
        <p:spPr>
          <a:xfrm rot="5400000" flipH="1" flipV="1">
            <a:off x="7164080" y="329101"/>
            <a:ext cx="383378" cy="148189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398">
            <a:extLst>
              <a:ext uri="{FF2B5EF4-FFF2-40B4-BE49-F238E27FC236}">
                <a16:creationId xmlns:a16="http://schemas.microsoft.com/office/drawing/2014/main" id="{2B4151FA-3706-4B7B-BEF1-6DF4F966EDB0}"/>
              </a:ext>
            </a:extLst>
          </p:cNvPr>
          <p:cNvCxnSpPr>
            <a:cxnSpLocks/>
            <a:stCxn id="57" idx="2"/>
            <a:endCxn id="65" idx="1"/>
          </p:cNvCxnSpPr>
          <p:nvPr/>
        </p:nvCxnSpPr>
        <p:spPr>
          <a:xfrm rot="16200000" flipH="1">
            <a:off x="7163450" y="1676146"/>
            <a:ext cx="369331" cy="1466585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398">
            <a:extLst>
              <a:ext uri="{FF2B5EF4-FFF2-40B4-BE49-F238E27FC236}">
                <a16:creationId xmlns:a16="http://schemas.microsoft.com/office/drawing/2014/main" id="{DE4182E0-AB93-4BE2-B73A-3BD65E1DC191}"/>
              </a:ext>
            </a:extLst>
          </p:cNvPr>
          <p:cNvCxnSpPr>
            <a:cxnSpLocks/>
            <a:stCxn id="57" idx="3"/>
            <a:endCxn id="237" idx="1"/>
          </p:cNvCxnSpPr>
          <p:nvPr/>
        </p:nvCxnSpPr>
        <p:spPr>
          <a:xfrm flipV="1">
            <a:off x="7358989" y="1743253"/>
            <a:ext cx="4452116" cy="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lowchart: Decision 109">
            <a:extLst>
              <a:ext uri="{FF2B5EF4-FFF2-40B4-BE49-F238E27FC236}">
                <a16:creationId xmlns:a16="http://schemas.microsoft.com/office/drawing/2014/main" id="{D5E6BB57-403B-4258-B7EB-865FBC178A62}"/>
              </a:ext>
            </a:extLst>
          </p:cNvPr>
          <p:cNvSpPr/>
          <p:nvPr/>
        </p:nvSpPr>
        <p:spPr>
          <a:xfrm>
            <a:off x="10119829" y="2112586"/>
            <a:ext cx="1488332" cy="963038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dirty="0"/>
              <a:t>Tolerance</a:t>
            </a:r>
          </a:p>
        </p:txBody>
      </p:sp>
      <p:cxnSp>
        <p:nvCxnSpPr>
          <p:cNvPr id="123" name="Elbow Connector 398">
            <a:extLst>
              <a:ext uri="{FF2B5EF4-FFF2-40B4-BE49-F238E27FC236}">
                <a16:creationId xmlns:a16="http://schemas.microsoft.com/office/drawing/2014/main" id="{26D41101-F72B-4B47-8B0C-15ACF00A14B5}"/>
              </a:ext>
            </a:extLst>
          </p:cNvPr>
          <p:cNvCxnSpPr>
            <a:cxnSpLocks/>
            <a:stCxn id="19" idx="3"/>
            <a:endCxn id="57" idx="1"/>
          </p:cNvCxnSpPr>
          <p:nvPr/>
        </p:nvCxnSpPr>
        <p:spPr>
          <a:xfrm>
            <a:off x="5429965" y="1743253"/>
            <a:ext cx="440692" cy="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398">
            <a:extLst>
              <a:ext uri="{FF2B5EF4-FFF2-40B4-BE49-F238E27FC236}">
                <a16:creationId xmlns:a16="http://schemas.microsoft.com/office/drawing/2014/main" id="{8F7C9833-E287-401B-AE7B-13FF47825751}"/>
              </a:ext>
            </a:extLst>
          </p:cNvPr>
          <p:cNvCxnSpPr>
            <a:cxnSpLocks/>
            <a:stCxn id="110" idx="3"/>
            <a:endCxn id="237" idx="2"/>
          </p:cNvCxnSpPr>
          <p:nvPr/>
        </p:nvCxnSpPr>
        <p:spPr>
          <a:xfrm flipV="1">
            <a:off x="11608161" y="2224772"/>
            <a:ext cx="947110" cy="369333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C444EEBF-9FD0-43DD-A35C-45E54E3DC1C6}"/>
              </a:ext>
            </a:extLst>
          </p:cNvPr>
          <p:cNvSpPr txBox="1"/>
          <p:nvPr/>
        </p:nvSpPr>
        <p:spPr>
          <a:xfrm>
            <a:off x="10875580" y="3059901"/>
            <a:ext cx="1323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3E624E5-7933-441E-9D64-38FFD2BAF7F1}"/>
              </a:ext>
            </a:extLst>
          </p:cNvPr>
          <p:cNvSpPr txBox="1"/>
          <p:nvPr/>
        </p:nvSpPr>
        <p:spPr>
          <a:xfrm>
            <a:off x="11599035" y="2604618"/>
            <a:ext cx="50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67435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2046" y="1415014"/>
                <a:ext cx="7117644" cy="8097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rad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∫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nary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46" y="1415014"/>
                <a:ext cx="7117644" cy="8097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6023" y="2224787"/>
                <a:ext cx="11096978" cy="8874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ra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𝜙𝜕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23" y="2224787"/>
                <a:ext cx="11096978" cy="8874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07156" y="767644"/>
                <a:ext cx="5306966" cy="35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56" y="767644"/>
                <a:ext cx="5306966" cy="354584"/>
              </a:xfrm>
              <a:prstGeom prst="rect">
                <a:avLst/>
              </a:prstGeom>
              <a:blipFill>
                <a:blip r:embed="rId4"/>
                <a:stretch>
                  <a:fillRect l="-689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397883" y="721093"/>
                <a:ext cx="1490152" cy="4011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ra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𝑁h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883" y="721093"/>
                <a:ext cx="1490152" cy="401135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9379844" y="546045"/>
            <a:ext cx="2584810" cy="1149921"/>
            <a:chOff x="9379844" y="546045"/>
            <a:chExt cx="2584810" cy="11499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465733" y="546045"/>
                  <a:ext cx="2413032" cy="5761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733" y="546045"/>
                  <a:ext cx="2413032" cy="5761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9379844" y="1246163"/>
                  <a:ext cx="2584810" cy="4498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9844" y="1246163"/>
                  <a:ext cx="2584810" cy="449803"/>
                </a:xfrm>
                <a:prstGeom prst="rect">
                  <a:avLst/>
                </a:prstGeom>
                <a:blipFill>
                  <a:blip r:embed="rId7"/>
                  <a:stretch>
                    <a:fillRect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41948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94832322"/>
              </p:ext>
            </p:extLst>
          </p:nvPr>
        </p:nvGraphicFramePr>
        <p:xfrm>
          <a:off x="3794741" y="57973"/>
          <a:ext cx="6460067" cy="3832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80553915"/>
              </p:ext>
            </p:extLst>
          </p:nvPr>
        </p:nvGraphicFramePr>
        <p:xfrm>
          <a:off x="3681751" y="3737336"/>
          <a:ext cx="6460067" cy="4115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09922" y="4924696"/>
            <a:ext cx="9580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vs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6445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231</Words>
  <Application>Microsoft Office PowerPoint</Application>
  <PresentationFormat>Custom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How generic is eternal inflation?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Ross Greenwood</dc:creator>
  <cp:lastModifiedBy>Ross Greenwood</cp:lastModifiedBy>
  <cp:revision>44</cp:revision>
  <dcterms:created xsi:type="dcterms:W3CDTF">2016-09-19T22:06:54Z</dcterms:created>
  <dcterms:modified xsi:type="dcterms:W3CDTF">2017-11-02T23:11:15Z</dcterms:modified>
</cp:coreProperties>
</file>